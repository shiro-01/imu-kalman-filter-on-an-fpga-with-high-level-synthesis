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68" r:id="rId3"/>
    <p:sldId id="282" r:id="rId4"/>
    <p:sldId id="283" r:id="rId5"/>
    <p:sldId id="286" r:id="rId6"/>
    <p:sldId id="285" r:id="rId7"/>
    <p:sldId id="289" r:id="rId8"/>
    <p:sldId id="291" r:id="rId9"/>
    <p:sldId id="290" r:id="rId10"/>
    <p:sldId id="288" r:id="rId11"/>
    <p:sldId id="292" r:id="rId12"/>
    <p:sldId id="293" r:id="rId13"/>
    <p:sldId id="287" r:id="rId14"/>
    <p:sldId id="294" r:id="rId15"/>
    <p:sldId id="306" r:id="rId16"/>
    <p:sldId id="303" r:id="rId17"/>
    <p:sldId id="304" r:id="rId18"/>
    <p:sldId id="305" r:id="rId19"/>
    <p:sldId id="307" r:id="rId20"/>
    <p:sldId id="308" r:id="rId21"/>
    <p:sldId id="298" r:id="rId22"/>
    <p:sldId id="295" r:id="rId23"/>
    <p:sldId id="297" r:id="rId24"/>
    <p:sldId id="296" r:id="rId25"/>
    <p:sldId id="299" r:id="rId26"/>
    <p:sldId id="300" r:id="rId27"/>
    <p:sldId id="257" r:id="rId28"/>
    <p:sldId id="267" r:id="rId29"/>
    <p:sldId id="301" r:id="rId30"/>
    <p:sldId id="309" r:id="rId31"/>
    <p:sldId id="302" r:id="rId32"/>
    <p:sldId id="310" r:id="rId33"/>
    <p:sldId id="311" r:id="rId34"/>
    <p:sldId id="312" r:id="rId35"/>
    <p:sldId id="313" r:id="rId36"/>
    <p:sldId id="269" r:id="rId37"/>
    <p:sldId id="270" r:id="rId38"/>
    <p:sldId id="271" r:id="rId39"/>
    <p:sldId id="278" r:id="rId40"/>
    <p:sldId id="258" r:id="rId41"/>
    <p:sldId id="272" r:id="rId42"/>
    <p:sldId id="260" r:id="rId43"/>
    <p:sldId id="281" r:id="rId44"/>
    <p:sldId id="279" r:id="rId45"/>
    <p:sldId id="280" r:id="rId46"/>
    <p:sldId id="274" r:id="rId47"/>
    <p:sldId id="275" r:id="rId48"/>
    <p:sldId id="276" r:id="rId49"/>
    <p:sldId id="277" r:id="rId50"/>
    <p:sldId id="264" r:id="rId51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86370"/>
  </p:normalViewPr>
  <p:slideViewPr>
    <p:cSldViewPr snapToGrid="0">
      <p:cViewPr varScale="1">
        <p:scale>
          <a:sx n="109" d="100"/>
          <a:sy n="109" d="100"/>
        </p:scale>
        <p:origin x="21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0" d="100"/>
          <a:sy n="120" d="100"/>
        </p:scale>
        <p:origin x="433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8B0EB2-CAA4-684F-8ADE-E0B88B8CF7FA}" type="doc">
      <dgm:prSet loTypeId="urn:microsoft.com/office/officeart/2005/8/layout/hProcess11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779E271C-BD1B-6645-871A-EE2DF44B61A6}">
      <dgm:prSet/>
      <dgm:spPr/>
      <dgm:t>
        <a:bodyPr/>
        <a:lstStyle/>
        <a:p>
          <a:r>
            <a:rPr lang="en-DE" dirty="0">
              <a:solidFill>
                <a:schemeClr val="bg1"/>
              </a:solidFill>
            </a:rPr>
            <a:t>1. Exploring Different Sensors</a:t>
          </a:r>
          <a:endParaRPr lang="en-GB" dirty="0">
            <a:solidFill>
              <a:schemeClr val="bg1"/>
            </a:solidFill>
          </a:endParaRPr>
        </a:p>
      </dgm:t>
    </dgm:pt>
    <dgm:pt modelId="{F3D24C9F-0F7A-9443-BEC5-F74B6A01185D}" type="parTrans" cxnId="{67AA7F96-F4AC-4249-A757-54EF159A4E7D}">
      <dgm:prSet/>
      <dgm:spPr/>
      <dgm:t>
        <a:bodyPr/>
        <a:lstStyle/>
        <a:p>
          <a:endParaRPr lang="en-GB"/>
        </a:p>
      </dgm:t>
    </dgm:pt>
    <dgm:pt modelId="{0FF0ABF5-33A7-D440-BDCE-BC8F2E2ACFCE}" type="sibTrans" cxnId="{67AA7F96-F4AC-4249-A757-54EF159A4E7D}">
      <dgm:prSet/>
      <dgm:spPr/>
      <dgm:t>
        <a:bodyPr/>
        <a:lstStyle/>
        <a:p>
          <a:endParaRPr lang="en-GB"/>
        </a:p>
      </dgm:t>
    </dgm:pt>
    <dgm:pt modelId="{5E937C5C-18B3-C741-A911-C2B7784B2CB7}">
      <dgm:prSet/>
      <dgm:spPr/>
      <dgm:t>
        <a:bodyPr/>
        <a:lstStyle/>
        <a:p>
          <a:r>
            <a:rPr lang="en-DE" dirty="0">
              <a:solidFill>
                <a:schemeClr val="bg1"/>
              </a:solidFill>
            </a:rPr>
            <a:t>2. Allan Variance </a:t>
          </a:r>
          <a:endParaRPr lang="en-GB" dirty="0">
            <a:solidFill>
              <a:schemeClr val="bg1"/>
            </a:solidFill>
          </a:endParaRPr>
        </a:p>
      </dgm:t>
    </dgm:pt>
    <dgm:pt modelId="{D9D8DF78-3627-494D-8B36-94B11F35C136}" type="parTrans" cxnId="{CFED6ACD-1ED2-224E-A756-488C94695B60}">
      <dgm:prSet/>
      <dgm:spPr/>
      <dgm:t>
        <a:bodyPr/>
        <a:lstStyle/>
        <a:p>
          <a:endParaRPr lang="en-GB"/>
        </a:p>
      </dgm:t>
    </dgm:pt>
    <dgm:pt modelId="{B3667EB1-7DBE-4B4D-9B62-E84FD4EB32A8}" type="sibTrans" cxnId="{CFED6ACD-1ED2-224E-A756-488C94695B60}">
      <dgm:prSet/>
      <dgm:spPr/>
      <dgm:t>
        <a:bodyPr/>
        <a:lstStyle/>
        <a:p>
          <a:endParaRPr lang="en-GB"/>
        </a:p>
      </dgm:t>
    </dgm:pt>
    <dgm:pt modelId="{825739CB-4F4D-F940-9C64-1DF92B0C426C}">
      <dgm:prSet/>
      <dgm:spPr/>
      <dgm:t>
        <a:bodyPr/>
        <a:lstStyle/>
        <a:p>
          <a:r>
            <a:rPr lang="en-DE" dirty="0">
              <a:solidFill>
                <a:schemeClr val="bg1"/>
              </a:solidFill>
            </a:rPr>
            <a:t>3. IMUs Errors</a:t>
          </a:r>
          <a:endParaRPr lang="en-GB" dirty="0">
            <a:solidFill>
              <a:schemeClr val="bg1"/>
            </a:solidFill>
          </a:endParaRPr>
        </a:p>
      </dgm:t>
    </dgm:pt>
    <dgm:pt modelId="{87AE6133-BC04-4649-B8EA-42DEB01E4686}" type="parTrans" cxnId="{C5BE55AD-6394-8B4C-9ABC-35748E4E8204}">
      <dgm:prSet/>
      <dgm:spPr/>
      <dgm:t>
        <a:bodyPr/>
        <a:lstStyle/>
        <a:p>
          <a:endParaRPr lang="en-GB"/>
        </a:p>
      </dgm:t>
    </dgm:pt>
    <dgm:pt modelId="{52B67262-6101-574C-8E9B-D0EA784BE39D}" type="sibTrans" cxnId="{C5BE55AD-6394-8B4C-9ABC-35748E4E8204}">
      <dgm:prSet/>
      <dgm:spPr/>
      <dgm:t>
        <a:bodyPr/>
        <a:lstStyle/>
        <a:p>
          <a:endParaRPr lang="en-GB"/>
        </a:p>
      </dgm:t>
    </dgm:pt>
    <dgm:pt modelId="{A7303AD7-9913-7346-8579-F253A4BEB7AD}">
      <dgm:prSet/>
      <dgm:spPr/>
      <dgm:t>
        <a:bodyPr/>
        <a:lstStyle/>
        <a:p>
          <a:r>
            <a:rPr lang="en-DE" dirty="0">
              <a:solidFill>
                <a:schemeClr val="bg1"/>
              </a:solidFill>
            </a:rPr>
            <a:t>4. SW Architecture </a:t>
          </a:r>
          <a:endParaRPr lang="en-GB" dirty="0">
            <a:solidFill>
              <a:schemeClr val="bg1"/>
            </a:solidFill>
          </a:endParaRPr>
        </a:p>
      </dgm:t>
    </dgm:pt>
    <dgm:pt modelId="{D065C268-C6C2-5A45-9121-F084B0E2A48E}" type="parTrans" cxnId="{93E76147-B839-314A-89E4-F5782CBBB90C}">
      <dgm:prSet/>
      <dgm:spPr/>
      <dgm:t>
        <a:bodyPr/>
        <a:lstStyle/>
        <a:p>
          <a:endParaRPr lang="en-GB"/>
        </a:p>
      </dgm:t>
    </dgm:pt>
    <dgm:pt modelId="{BA2F2E45-DD4A-FC4E-B533-D2CEB520FB00}" type="sibTrans" cxnId="{93E76147-B839-314A-89E4-F5782CBBB90C}">
      <dgm:prSet/>
      <dgm:spPr/>
      <dgm:t>
        <a:bodyPr/>
        <a:lstStyle/>
        <a:p>
          <a:endParaRPr lang="en-GB"/>
        </a:p>
      </dgm:t>
    </dgm:pt>
    <dgm:pt modelId="{9EDF3F56-71C4-9845-82F9-9AEFFE49CC63}">
      <dgm:prSet/>
      <dgm:spPr/>
      <dgm:t>
        <a:bodyPr/>
        <a:lstStyle/>
        <a:p>
          <a:r>
            <a:rPr lang="en-DE" dirty="0">
              <a:solidFill>
                <a:schemeClr val="bg1"/>
              </a:solidFill>
            </a:rPr>
            <a:t>5. Results</a:t>
          </a:r>
          <a:endParaRPr lang="en-GB" dirty="0">
            <a:solidFill>
              <a:schemeClr val="bg1"/>
            </a:solidFill>
          </a:endParaRPr>
        </a:p>
      </dgm:t>
    </dgm:pt>
    <dgm:pt modelId="{9EDCA566-2CFF-F744-B51F-7C9FBE038DE1}" type="parTrans" cxnId="{C4D5D16D-70CD-F34F-995F-FC93449E26BF}">
      <dgm:prSet/>
      <dgm:spPr/>
      <dgm:t>
        <a:bodyPr/>
        <a:lstStyle/>
        <a:p>
          <a:endParaRPr lang="en-GB"/>
        </a:p>
      </dgm:t>
    </dgm:pt>
    <dgm:pt modelId="{68CEAC55-F9D5-3F4A-AFC0-1E55D0F2186B}" type="sibTrans" cxnId="{C4D5D16D-70CD-F34F-995F-FC93449E26BF}">
      <dgm:prSet/>
      <dgm:spPr/>
      <dgm:t>
        <a:bodyPr/>
        <a:lstStyle/>
        <a:p>
          <a:endParaRPr lang="en-GB"/>
        </a:p>
      </dgm:t>
    </dgm:pt>
    <dgm:pt modelId="{48BE452F-8799-514B-8347-28B0DF04B1FF}">
      <dgm:prSet/>
      <dgm:spPr/>
      <dgm:t>
        <a:bodyPr/>
        <a:lstStyle/>
        <a:p>
          <a:r>
            <a:rPr lang="en-DE" dirty="0">
              <a:solidFill>
                <a:schemeClr val="bg1"/>
              </a:solidFill>
            </a:rPr>
            <a:t>6. Sensor Fusion </a:t>
          </a:r>
          <a:endParaRPr lang="en-GB" dirty="0">
            <a:solidFill>
              <a:schemeClr val="bg1"/>
            </a:solidFill>
          </a:endParaRPr>
        </a:p>
      </dgm:t>
    </dgm:pt>
    <dgm:pt modelId="{5BBB6FDE-C5A5-FC46-9F9D-A212C0842861}" type="parTrans" cxnId="{7D78FA05-FEEC-5345-8B91-A2E8E1F70665}">
      <dgm:prSet/>
      <dgm:spPr/>
      <dgm:t>
        <a:bodyPr/>
        <a:lstStyle/>
        <a:p>
          <a:endParaRPr lang="en-GB"/>
        </a:p>
      </dgm:t>
    </dgm:pt>
    <dgm:pt modelId="{C0B83C32-0CD3-B24F-8526-09F559171EE8}" type="sibTrans" cxnId="{7D78FA05-FEEC-5345-8B91-A2E8E1F70665}">
      <dgm:prSet/>
      <dgm:spPr/>
      <dgm:t>
        <a:bodyPr/>
        <a:lstStyle/>
        <a:p>
          <a:endParaRPr lang="en-GB"/>
        </a:p>
      </dgm:t>
    </dgm:pt>
    <dgm:pt modelId="{0DCAD411-B40C-E74D-8DE0-1F5B2E34B524}" type="pres">
      <dgm:prSet presAssocID="{028B0EB2-CAA4-684F-8ADE-E0B88B8CF7FA}" presName="Name0" presStyleCnt="0">
        <dgm:presLayoutVars>
          <dgm:dir/>
          <dgm:resizeHandles val="exact"/>
        </dgm:presLayoutVars>
      </dgm:prSet>
      <dgm:spPr/>
    </dgm:pt>
    <dgm:pt modelId="{8E398F07-81D8-C240-9807-CEDF66744EF1}" type="pres">
      <dgm:prSet presAssocID="{028B0EB2-CAA4-684F-8ADE-E0B88B8CF7FA}" presName="arrow" presStyleLbl="bgShp" presStyleIdx="0" presStyleCnt="1"/>
      <dgm:spPr/>
    </dgm:pt>
    <dgm:pt modelId="{40A002B3-4EFB-6849-A93B-B54422BFAEF0}" type="pres">
      <dgm:prSet presAssocID="{028B0EB2-CAA4-684F-8ADE-E0B88B8CF7FA}" presName="points" presStyleCnt="0"/>
      <dgm:spPr/>
    </dgm:pt>
    <dgm:pt modelId="{28557A54-C265-1D4F-BE17-9A2547302176}" type="pres">
      <dgm:prSet presAssocID="{779E271C-BD1B-6645-871A-EE2DF44B61A6}" presName="compositeA" presStyleCnt="0"/>
      <dgm:spPr/>
    </dgm:pt>
    <dgm:pt modelId="{DB7E8745-AA9F-684C-BD02-BD7B170E14B2}" type="pres">
      <dgm:prSet presAssocID="{779E271C-BD1B-6645-871A-EE2DF44B61A6}" presName="textA" presStyleLbl="revTx" presStyleIdx="0" presStyleCnt="6">
        <dgm:presLayoutVars>
          <dgm:bulletEnabled val="1"/>
        </dgm:presLayoutVars>
      </dgm:prSet>
      <dgm:spPr/>
    </dgm:pt>
    <dgm:pt modelId="{24E70D15-55D9-5549-B03A-0A09639FF143}" type="pres">
      <dgm:prSet presAssocID="{779E271C-BD1B-6645-871A-EE2DF44B61A6}" presName="circleA" presStyleLbl="node1" presStyleIdx="0" presStyleCnt="6"/>
      <dgm:spPr/>
    </dgm:pt>
    <dgm:pt modelId="{9172751B-DA4D-A44F-A49C-9E65684CEFE0}" type="pres">
      <dgm:prSet presAssocID="{779E271C-BD1B-6645-871A-EE2DF44B61A6}" presName="spaceA" presStyleCnt="0"/>
      <dgm:spPr/>
    </dgm:pt>
    <dgm:pt modelId="{DE32C909-D8A5-3B46-B945-BCD16CDF9DE6}" type="pres">
      <dgm:prSet presAssocID="{0FF0ABF5-33A7-D440-BDCE-BC8F2E2ACFCE}" presName="space" presStyleCnt="0"/>
      <dgm:spPr/>
    </dgm:pt>
    <dgm:pt modelId="{CF4043CC-5F9D-B841-BC37-99547D52C5CE}" type="pres">
      <dgm:prSet presAssocID="{5E937C5C-18B3-C741-A911-C2B7784B2CB7}" presName="compositeB" presStyleCnt="0"/>
      <dgm:spPr/>
    </dgm:pt>
    <dgm:pt modelId="{4058B55B-6BAB-304F-8F6F-FB2DAAF501A7}" type="pres">
      <dgm:prSet presAssocID="{5E937C5C-18B3-C741-A911-C2B7784B2CB7}" presName="textB" presStyleLbl="revTx" presStyleIdx="1" presStyleCnt="6">
        <dgm:presLayoutVars>
          <dgm:bulletEnabled val="1"/>
        </dgm:presLayoutVars>
      </dgm:prSet>
      <dgm:spPr/>
    </dgm:pt>
    <dgm:pt modelId="{C592C02E-899E-944A-A0ED-4513EFD8B28E}" type="pres">
      <dgm:prSet presAssocID="{5E937C5C-18B3-C741-A911-C2B7784B2CB7}" presName="circleB" presStyleLbl="node1" presStyleIdx="1" presStyleCnt="6"/>
      <dgm:spPr/>
    </dgm:pt>
    <dgm:pt modelId="{6C70D439-E9B7-DC46-9BA8-7CF00FB56157}" type="pres">
      <dgm:prSet presAssocID="{5E937C5C-18B3-C741-A911-C2B7784B2CB7}" presName="spaceB" presStyleCnt="0"/>
      <dgm:spPr/>
    </dgm:pt>
    <dgm:pt modelId="{74A927A8-71EA-4E4B-9FF0-821BF87D5417}" type="pres">
      <dgm:prSet presAssocID="{B3667EB1-7DBE-4B4D-9B62-E84FD4EB32A8}" presName="space" presStyleCnt="0"/>
      <dgm:spPr/>
    </dgm:pt>
    <dgm:pt modelId="{2B5E5DE4-3786-6D4F-ADD2-B04C2D89DE70}" type="pres">
      <dgm:prSet presAssocID="{825739CB-4F4D-F940-9C64-1DF92B0C426C}" presName="compositeA" presStyleCnt="0"/>
      <dgm:spPr/>
    </dgm:pt>
    <dgm:pt modelId="{EE7B9B5D-1BB4-6F42-A5D2-74ADA2EB1207}" type="pres">
      <dgm:prSet presAssocID="{825739CB-4F4D-F940-9C64-1DF92B0C426C}" presName="textA" presStyleLbl="revTx" presStyleIdx="2" presStyleCnt="6">
        <dgm:presLayoutVars>
          <dgm:bulletEnabled val="1"/>
        </dgm:presLayoutVars>
      </dgm:prSet>
      <dgm:spPr/>
    </dgm:pt>
    <dgm:pt modelId="{A5CD11BA-E3C6-6D47-B4DA-AD04B23176F6}" type="pres">
      <dgm:prSet presAssocID="{825739CB-4F4D-F940-9C64-1DF92B0C426C}" presName="circleA" presStyleLbl="node1" presStyleIdx="2" presStyleCnt="6"/>
      <dgm:spPr/>
    </dgm:pt>
    <dgm:pt modelId="{EC945B3F-00C6-5B40-A856-9CDAE35B6B20}" type="pres">
      <dgm:prSet presAssocID="{825739CB-4F4D-F940-9C64-1DF92B0C426C}" presName="spaceA" presStyleCnt="0"/>
      <dgm:spPr/>
    </dgm:pt>
    <dgm:pt modelId="{7DAF5A28-AEEA-234B-846C-4D25460D5565}" type="pres">
      <dgm:prSet presAssocID="{52B67262-6101-574C-8E9B-D0EA784BE39D}" presName="space" presStyleCnt="0"/>
      <dgm:spPr/>
    </dgm:pt>
    <dgm:pt modelId="{5A0DE7D7-748F-1947-8F78-CE7436411949}" type="pres">
      <dgm:prSet presAssocID="{A7303AD7-9913-7346-8579-F253A4BEB7AD}" presName="compositeB" presStyleCnt="0"/>
      <dgm:spPr/>
    </dgm:pt>
    <dgm:pt modelId="{E14FCD3F-040A-8D4D-9C20-E3BBF618112B}" type="pres">
      <dgm:prSet presAssocID="{A7303AD7-9913-7346-8579-F253A4BEB7AD}" presName="textB" presStyleLbl="revTx" presStyleIdx="3" presStyleCnt="6">
        <dgm:presLayoutVars>
          <dgm:bulletEnabled val="1"/>
        </dgm:presLayoutVars>
      </dgm:prSet>
      <dgm:spPr/>
    </dgm:pt>
    <dgm:pt modelId="{1B9D88CD-2010-2140-8AB7-8B52FED6B6A7}" type="pres">
      <dgm:prSet presAssocID="{A7303AD7-9913-7346-8579-F253A4BEB7AD}" presName="circleB" presStyleLbl="node1" presStyleIdx="3" presStyleCnt="6"/>
      <dgm:spPr/>
    </dgm:pt>
    <dgm:pt modelId="{E421100B-DB18-1D45-88AC-FFAD864173DE}" type="pres">
      <dgm:prSet presAssocID="{A7303AD7-9913-7346-8579-F253A4BEB7AD}" presName="spaceB" presStyleCnt="0"/>
      <dgm:spPr/>
    </dgm:pt>
    <dgm:pt modelId="{23729950-6D0E-3A4E-A074-4BDE08551912}" type="pres">
      <dgm:prSet presAssocID="{BA2F2E45-DD4A-FC4E-B533-D2CEB520FB00}" presName="space" presStyleCnt="0"/>
      <dgm:spPr/>
    </dgm:pt>
    <dgm:pt modelId="{2E37505E-22BB-9346-86AF-9DF5C8CB9C4C}" type="pres">
      <dgm:prSet presAssocID="{9EDF3F56-71C4-9845-82F9-9AEFFE49CC63}" presName="compositeA" presStyleCnt="0"/>
      <dgm:spPr/>
    </dgm:pt>
    <dgm:pt modelId="{1DDF4943-7039-9649-829D-E2F2EC36DCA0}" type="pres">
      <dgm:prSet presAssocID="{9EDF3F56-71C4-9845-82F9-9AEFFE49CC63}" presName="textA" presStyleLbl="revTx" presStyleIdx="4" presStyleCnt="6">
        <dgm:presLayoutVars>
          <dgm:bulletEnabled val="1"/>
        </dgm:presLayoutVars>
      </dgm:prSet>
      <dgm:spPr/>
    </dgm:pt>
    <dgm:pt modelId="{290D9A9C-DB44-4C4C-9E99-9919FDE33FE1}" type="pres">
      <dgm:prSet presAssocID="{9EDF3F56-71C4-9845-82F9-9AEFFE49CC63}" presName="circleA" presStyleLbl="node1" presStyleIdx="4" presStyleCnt="6"/>
      <dgm:spPr/>
    </dgm:pt>
    <dgm:pt modelId="{0F9E7577-6BF2-004D-9BDE-954F05641EBB}" type="pres">
      <dgm:prSet presAssocID="{9EDF3F56-71C4-9845-82F9-9AEFFE49CC63}" presName="spaceA" presStyleCnt="0"/>
      <dgm:spPr/>
    </dgm:pt>
    <dgm:pt modelId="{38CA00BC-EAA8-7944-BBC4-7C7F4C4CE216}" type="pres">
      <dgm:prSet presAssocID="{68CEAC55-F9D5-3F4A-AFC0-1E55D0F2186B}" presName="space" presStyleCnt="0"/>
      <dgm:spPr/>
    </dgm:pt>
    <dgm:pt modelId="{670B757E-4D0D-4543-B720-99300D79A305}" type="pres">
      <dgm:prSet presAssocID="{48BE452F-8799-514B-8347-28B0DF04B1FF}" presName="compositeB" presStyleCnt="0"/>
      <dgm:spPr/>
    </dgm:pt>
    <dgm:pt modelId="{65D9E817-899C-8543-8E8E-4A02243240CE}" type="pres">
      <dgm:prSet presAssocID="{48BE452F-8799-514B-8347-28B0DF04B1FF}" presName="textB" presStyleLbl="revTx" presStyleIdx="5" presStyleCnt="6">
        <dgm:presLayoutVars>
          <dgm:bulletEnabled val="1"/>
        </dgm:presLayoutVars>
      </dgm:prSet>
      <dgm:spPr/>
    </dgm:pt>
    <dgm:pt modelId="{94723166-720C-A245-A9E4-609B2FD07AD3}" type="pres">
      <dgm:prSet presAssocID="{48BE452F-8799-514B-8347-28B0DF04B1FF}" presName="circleB" presStyleLbl="node1" presStyleIdx="5" presStyleCnt="6"/>
      <dgm:spPr/>
    </dgm:pt>
    <dgm:pt modelId="{C669D816-2F98-534D-AEBF-2DBCC34BAF53}" type="pres">
      <dgm:prSet presAssocID="{48BE452F-8799-514B-8347-28B0DF04B1FF}" presName="spaceB" presStyleCnt="0"/>
      <dgm:spPr/>
    </dgm:pt>
  </dgm:ptLst>
  <dgm:cxnLst>
    <dgm:cxn modelId="{96DDC301-A468-2043-836B-AC1B743B42B9}" type="presOf" srcId="{825739CB-4F4D-F940-9C64-1DF92B0C426C}" destId="{EE7B9B5D-1BB4-6F42-A5D2-74ADA2EB1207}" srcOrd="0" destOrd="0" presId="urn:microsoft.com/office/officeart/2005/8/layout/hProcess11"/>
    <dgm:cxn modelId="{7D78FA05-FEEC-5345-8B91-A2E8E1F70665}" srcId="{028B0EB2-CAA4-684F-8ADE-E0B88B8CF7FA}" destId="{48BE452F-8799-514B-8347-28B0DF04B1FF}" srcOrd="5" destOrd="0" parTransId="{5BBB6FDE-C5A5-FC46-9F9D-A212C0842861}" sibTransId="{C0B83C32-0CD3-B24F-8526-09F559171EE8}"/>
    <dgm:cxn modelId="{F2966B13-3CBB-3547-BCAF-9B4C53D694AA}" type="presOf" srcId="{5E937C5C-18B3-C741-A911-C2B7784B2CB7}" destId="{4058B55B-6BAB-304F-8F6F-FB2DAAF501A7}" srcOrd="0" destOrd="0" presId="urn:microsoft.com/office/officeart/2005/8/layout/hProcess11"/>
    <dgm:cxn modelId="{E4CAB120-5E05-014D-A9EC-49613BAA2A43}" type="presOf" srcId="{9EDF3F56-71C4-9845-82F9-9AEFFE49CC63}" destId="{1DDF4943-7039-9649-829D-E2F2EC36DCA0}" srcOrd="0" destOrd="0" presId="urn:microsoft.com/office/officeart/2005/8/layout/hProcess11"/>
    <dgm:cxn modelId="{93E76147-B839-314A-89E4-F5782CBBB90C}" srcId="{028B0EB2-CAA4-684F-8ADE-E0B88B8CF7FA}" destId="{A7303AD7-9913-7346-8579-F253A4BEB7AD}" srcOrd="3" destOrd="0" parTransId="{D065C268-C6C2-5A45-9121-F084B0E2A48E}" sibTransId="{BA2F2E45-DD4A-FC4E-B533-D2CEB520FB00}"/>
    <dgm:cxn modelId="{62AECD5B-141A-6B40-A3FC-FAA8CB188729}" type="presOf" srcId="{A7303AD7-9913-7346-8579-F253A4BEB7AD}" destId="{E14FCD3F-040A-8D4D-9C20-E3BBF618112B}" srcOrd="0" destOrd="0" presId="urn:microsoft.com/office/officeart/2005/8/layout/hProcess11"/>
    <dgm:cxn modelId="{C4D5D16D-70CD-F34F-995F-FC93449E26BF}" srcId="{028B0EB2-CAA4-684F-8ADE-E0B88B8CF7FA}" destId="{9EDF3F56-71C4-9845-82F9-9AEFFE49CC63}" srcOrd="4" destOrd="0" parTransId="{9EDCA566-2CFF-F744-B51F-7C9FBE038DE1}" sibTransId="{68CEAC55-F9D5-3F4A-AFC0-1E55D0F2186B}"/>
    <dgm:cxn modelId="{E1ED9191-9DA1-224F-BEE0-5D658580DDB3}" type="presOf" srcId="{779E271C-BD1B-6645-871A-EE2DF44B61A6}" destId="{DB7E8745-AA9F-684C-BD02-BD7B170E14B2}" srcOrd="0" destOrd="0" presId="urn:microsoft.com/office/officeart/2005/8/layout/hProcess11"/>
    <dgm:cxn modelId="{67AA7F96-F4AC-4249-A757-54EF159A4E7D}" srcId="{028B0EB2-CAA4-684F-8ADE-E0B88B8CF7FA}" destId="{779E271C-BD1B-6645-871A-EE2DF44B61A6}" srcOrd="0" destOrd="0" parTransId="{F3D24C9F-0F7A-9443-BEC5-F74B6A01185D}" sibTransId="{0FF0ABF5-33A7-D440-BDCE-BC8F2E2ACFCE}"/>
    <dgm:cxn modelId="{C5BE55AD-6394-8B4C-9ABC-35748E4E8204}" srcId="{028B0EB2-CAA4-684F-8ADE-E0B88B8CF7FA}" destId="{825739CB-4F4D-F940-9C64-1DF92B0C426C}" srcOrd="2" destOrd="0" parTransId="{87AE6133-BC04-4649-B8EA-42DEB01E4686}" sibTransId="{52B67262-6101-574C-8E9B-D0EA784BE39D}"/>
    <dgm:cxn modelId="{02B727B1-CF2C-BB4B-A56E-BC54AAF4A079}" type="presOf" srcId="{028B0EB2-CAA4-684F-8ADE-E0B88B8CF7FA}" destId="{0DCAD411-B40C-E74D-8DE0-1F5B2E34B524}" srcOrd="0" destOrd="0" presId="urn:microsoft.com/office/officeart/2005/8/layout/hProcess11"/>
    <dgm:cxn modelId="{780481B1-C5F1-B142-B117-A35701FCC733}" type="presOf" srcId="{48BE452F-8799-514B-8347-28B0DF04B1FF}" destId="{65D9E817-899C-8543-8E8E-4A02243240CE}" srcOrd="0" destOrd="0" presId="urn:microsoft.com/office/officeart/2005/8/layout/hProcess11"/>
    <dgm:cxn modelId="{CFED6ACD-1ED2-224E-A756-488C94695B60}" srcId="{028B0EB2-CAA4-684F-8ADE-E0B88B8CF7FA}" destId="{5E937C5C-18B3-C741-A911-C2B7784B2CB7}" srcOrd="1" destOrd="0" parTransId="{D9D8DF78-3627-494D-8B36-94B11F35C136}" sibTransId="{B3667EB1-7DBE-4B4D-9B62-E84FD4EB32A8}"/>
    <dgm:cxn modelId="{911BAF7A-8971-3844-9DDA-7DEF08FF91B6}" type="presParOf" srcId="{0DCAD411-B40C-E74D-8DE0-1F5B2E34B524}" destId="{8E398F07-81D8-C240-9807-CEDF66744EF1}" srcOrd="0" destOrd="0" presId="urn:microsoft.com/office/officeart/2005/8/layout/hProcess11"/>
    <dgm:cxn modelId="{54341F5C-6F99-AA44-B177-AA9FF652373D}" type="presParOf" srcId="{0DCAD411-B40C-E74D-8DE0-1F5B2E34B524}" destId="{40A002B3-4EFB-6849-A93B-B54422BFAEF0}" srcOrd="1" destOrd="0" presId="urn:microsoft.com/office/officeart/2005/8/layout/hProcess11"/>
    <dgm:cxn modelId="{2432814E-77C0-CC4D-82A4-532618864824}" type="presParOf" srcId="{40A002B3-4EFB-6849-A93B-B54422BFAEF0}" destId="{28557A54-C265-1D4F-BE17-9A2547302176}" srcOrd="0" destOrd="0" presId="urn:microsoft.com/office/officeart/2005/8/layout/hProcess11"/>
    <dgm:cxn modelId="{9ACFB3A9-58B3-9D4B-AAC6-9AF5F0373652}" type="presParOf" srcId="{28557A54-C265-1D4F-BE17-9A2547302176}" destId="{DB7E8745-AA9F-684C-BD02-BD7B170E14B2}" srcOrd="0" destOrd="0" presId="urn:microsoft.com/office/officeart/2005/8/layout/hProcess11"/>
    <dgm:cxn modelId="{5F87EF7E-8567-6C4D-A0B6-5C416A861CB1}" type="presParOf" srcId="{28557A54-C265-1D4F-BE17-9A2547302176}" destId="{24E70D15-55D9-5549-B03A-0A09639FF143}" srcOrd="1" destOrd="0" presId="urn:microsoft.com/office/officeart/2005/8/layout/hProcess11"/>
    <dgm:cxn modelId="{3647AD19-44C8-7641-A294-9335BE6D75DE}" type="presParOf" srcId="{28557A54-C265-1D4F-BE17-9A2547302176}" destId="{9172751B-DA4D-A44F-A49C-9E65684CEFE0}" srcOrd="2" destOrd="0" presId="urn:microsoft.com/office/officeart/2005/8/layout/hProcess11"/>
    <dgm:cxn modelId="{43960199-C9E9-4543-9079-EDF926132906}" type="presParOf" srcId="{40A002B3-4EFB-6849-A93B-B54422BFAEF0}" destId="{DE32C909-D8A5-3B46-B945-BCD16CDF9DE6}" srcOrd="1" destOrd="0" presId="urn:microsoft.com/office/officeart/2005/8/layout/hProcess11"/>
    <dgm:cxn modelId="{1A148E3F-0C03-B348-A450-EBB86C97C24D}" type="presParOf" srcId="{40A002B3-4EFB-6849-A93B-B54422BFAEF0}" destId="{CF4043CC-5F9D-B841-BC37-99547D52C5CE}" srcOrd="2" destOrd="0" presId="urn:microsoft.com/office/officeart/2005/8/layout/hProcess11"/>
    <dgm:cxn modelId="{5AC82AF4-3D7F-0C4A-B8F5-762962E09F44}" type="presParOf" srcId="{CF4043CC-5F9D-B841-BC37-99547D52C5CE}" destId="{4058B55B-6BAB-304F-8F6F-FB2DAAF501A7}" srcOrd="0" destOrd="0" presId="urn:microsoft.com/office/officeart/2005/8/layout/hProcess11"/>
    <dgm:cxn modelId="{13C1C263-3067-7C47-AE66-6DFD274D70DA}" type="presParOf" srcId="{CF4043CC-5F9D-B841-BC37-99547D52C5CE}" destId="{C592C02E-899E-944A-A0ED-4513EFD8B28E}" srcOrd="1" destOrd="0" presId="urn:microsoft.com/office/officeart/2005/8/layout/hProcess11"/>
    <dgm:cxn modelId="{194070F2-CE72-8841-9662-1A666599DDAA}" type="presParOf" srcId="{CF4043CC-5F9D-B841-BC37-99547D52C5CE}" destId="{6C70D439-E9B7-DC46-9BA8-7CF00FB56157}" srcOrd="2" destOrd="0" presId="urn:microsoft.com/office/officeart/2005/8/layout/hProcess11"/>
    <dgm:cxn modelId="{82F35C36-C0FB-744E-9B03-35CBD7DB0CD4}" type="presParOf" srcId="{40A002B3-4EFB-6849-A93B-B54422BFAEF0}" destId="{74A927A8-71EA-4E4B-9FF0-821BF87D5417}" srcOrd="3" destOrd="0" presId="urn:microsoft.com/office/officeart/2005/8/layout/hProcess11"/>
    <dgm:cxn modelId="{3DDB627E-1C3D-8644-9260-C7C9A6742BC8}" type="presParOf" srcId="{40A002B3-4EFB-6849-A93B-B54422BFAEF0}" destId="{2B5E5DE4-3786-6D4F-ADD2-B04C2D89DE70}" srcOrd="4" destOrd="0" presId="urn:microsoft.com/office/officeart/2005/8/layout/hProcess11"/>
    <dgm:cxn modelId="{CEA7629A-0272-8B45-8EAD-7351F6FF2FB0}" type="presParOf" srcId="{2B5E5DE4-3786-6D4F-ADD2-B04C2D89DE70}" destId="{EE7B9B5D-1BB4-6F42-A5D2-74ADA2EB1207}" srcOrd="0" destOrd="0" presId="urn:microsoft.com/office/officeart/2005/8/layout/hProcess11"/>
    <dgm:cxn modelId="{791569B1-2DB6-824C-84F7-ADEF0979E766}" type="presParOf" srcId="{2B5E5DE4-3786-6D4F-ADD2-B04C2D89DE70}" destId="{A5CD11BA-E3C6-6D47-B4DA-AD04B23176F6}" srcOrd="1" destOrd="0" presId="urn:microsoft.com/office/officeart/2005/8/layout/hProcess11"/>
    <dgm:cxn modelId="{0E4B0A2E-1B48-F148-AA49-C35BE9743DF8}" type="presParOf" srcId="{2B5E5DE4-3786-6D4F-ADD2-B04C2D89DE70}" destId="{EC945B3F-00C6-5B40-A856-9CDAE35B6B20}" srcOrd="2" destOrd="0" presId="urn:microsoft.com/office/officeart/2005/8/layout/hProcess11"/>
    <dgm:cxn modelId="{F63D46A7-381E-3D4B-911D-C99DEB8E7235}" type="presParOf" srcId="{40A002B3-4EFB-6849-A93B-B54422BFAEF0}" destId="{7DAF5A28-AEEA-234B-846C-4D25460D5565}" srcOrd="5" destOrd="0" presId="urn:microsoft.com/office/officeart/2005/8/layout/hProcess11"/>
    <dgm:cxn modelId="{C964C3A0-2B08-AE40-B8A5-1DE7D036642F}" type="presParOf" srcId="{40A002B3-4EFB-6849-A93B-B54422BFAEF0}" destId="{5A0DE7D7-748F-1947-8F78-CE7436411949}" srcOrd="6" destOrd="0" presId="urn:microsoft.com/office/officeart/2005/8/layout/hProcess11"/>
    <dgm:cxn modelId="{CACFE663-BA30-5C41-9573-2046473357E2}" type="presParOf" srcId="{5A0DE7D7-748F-1947-8F78-CE7436411949}" destId="{E14FCD3F-040A-8D4D-9C20-E3BBF618112B}" srcOrd="0" destOrd="0" presId="urn:microsoft.com/office/officeart/2005/8/layout/hProcess11"/>
    <dgm:cxn modelId="{72342CAC-050C-0643-A789-6C0156D72DA7}" type="presParOf" srcId="{5A0DE7D7-748F-1947-8F78-CE7436411949}" destId="{1B9D88CD-2010-2140-8AB7-8B52FED6B6A7}" srcOrd="1" destOrd="0" presId="urn:microsoft.com/office/officeart/2005/8/layout/hProcess11"/>
    <dgm:cxn modelId="{898968E2-74EE-4746-BBAE-45C4F927025D}" type="presParOf" srcId="{5A0DE7D7-748F-1947-8F78-CE7436411949}" destId="{E421100B-DB18-1D45-88AC-FFAD864173DE}" srcOrd="2" destOrd="0" presId="urn:microsoft.com/office/officeart/2005/8/layout/hProcess11"/>
    <dgm:cxn modelId="{1BDBAF14-8A0F-F347-9042-EEF9B496B2E4}" type="presParOf" srcId="{40A002B3-4EFB-6849-A93B-B54422BFAEF0}" destId="{23729950-6D0E-3A4E-A074-4BDE08551912}" srcOrd="7" destOrd="0" presId="urn:microsoft.com/office/officeart/2005/8/layout/hProcess11"/>
    <dgm:cxn modelId="{78250508-BB9A-C64C-8EA3-D2106C7E9201}" type="presParOf" srcId="{40A002B3-4EFB-6849-A93B-B54422BFAEF0}" destId="{2E37505E-22BB-9346-86AF-9DF5C8CB9C4C}" srcOrd="8" destOrd="0" presId="urn:microsoft.com/office/officeart/2005/8/layout/hProcess11"/>
    <dgm:cxn modelId="{7F2672C1-D878-6E4B-BAA4-6A7F2621EE75}" type="presParOf" srcId="{2E37505E-22BB-9346-86AF-9DF5C8CB9C4C}" destId="{1DDF4943-7039-9649-829D-E2F2EC36DCA0}" srcOrd="0" destOrd="0" presId="urn:microsoft.com/office/officeart/2005/8/layout/hProcess11"/>
    <dgm:cxn modelId="{DC948BCE-02B8-064C-AD1A-CB3682608FE7}" type="presParOf" srcId="{2E37505E-22BB-9346-86AF-9DF5C8CB9C4C}" destId="{290D9A9C-DB44-4C4C-9E99-9919FDE33FE1}" srcOrd="1" destOrd="0" presId="urn:microsoft.com/office/officeart/2005/8/layout/hProcess11"/>
    <dgm:cxn modelId="{DE6C1A3C-3342-AC40-8CBC-30D35857FB3F}" type="presParOf" srcId="{2E37505E-22BB-9346-86AF-9DF5C8CB9C4C}" destId="{0F9E7577-6BF2-004D-9BDE-954F05641EBB}" srcOrd="2" destOrd="0" presId="urn:microsoft.com/office/officeart/2005/8/layout/hProcess11"/>
    <dgm:cxn modelId="{B5AD0AF3-0300-7D40-8313-9DD37FC4EB49}" type="presParOf" srcId="{40A002B3-4EFB-6849-A93B-B54422BFAEF0}" destId="{38CA00BC-EAA8-7944-BBC4-7C7F4C4CE216}" srcOrd="9" destOrd="0" presId="urn:microsoft.com/office/officeart/2005/8/layout/hProcess11"/>
    <dgm:cxn modelId="{9DA04A52-1E1D-174E-B56D-5D7BBA04F590}" type="presParOf" srcId="{40A002B3-4EFB-6849-A93B-B54422BFAEF0}" destId="{670B757E-4D0D-4543-B720-99300D79A305}" srcOrd="10" destOrd="0" presId="urn:microsoft.com/office/officeart/2005/8/layout/hProcess11"/>
    <dgm:cxn modelId="{8D1A600F-CFBD-C743-BA41-0B3C5AD8960C}" type="presParOf" srcId="{670B757E-4D0D-4543-B720-99300D79A305}" destId="{65D9E817-899C-8543-8E8E-4A02243240CE}" srcOrd="0" destOrd="0" presId="urn:microsoft.com/office/officeart/2005/8/layout/hProcess11"/>
    <dgm:cxn modelId="{537F5D53-ABCE-2748-A539-80E5308BBB85}" type="presParOf" srcId="{670B757E-4D0D-4543-B720-99300D79A305}" destId="{94723166-720C-A245-A9E4-609B2FD07AD3}" srcOrd="1" destOrd="0" presId="urn:microsoft.com/office/officeart/2005/8/layout/hProcess11"/>
    <dgm:cxn modelId="{5A0DD765-79A5-F94F-833C-2CBB6D3AD65C}" type="presParOf" srcId="{670B757E-4D0D-4543-B720-99300D79A305}" destId="{C669D816-2F98-534D-AEBF-2DBCC34BAF53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398F07-81D8-C240-9807-CEDF66744EF1}">
      <dsp:nvSpPr>
        <dsp:cNvPr id="0" name=""/>
        <dsp:cNvSpPr/>
      </dsp:nvSpPr>
      <dsp:spPr>
        <a:xfrm>
          <a:off x="0" y="858578"/>
          <a:ext cx="9144000" cy="1144770"/>
        </a:xfrm>
        <a:prstGeom prst="notched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7E8745-AA9F-684C-BD02-BD7B170E14B2}">
      <dsp:nvSpPr>
        <dsp:cNvPr id="0" name=""/>
        <dsp:cNvSpPr/>
      </dsp:nvSpPr>
      <dsp:spPr>
        <a:xfrm>
          <a:off x="2260" y="0"/>
          <a:ext cx="1316012" cy="114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600" kern="1200" dirty="0">
              <a:solidFill>
                <a:schemeClr val="bg1"/>
              </a:solidFill>
            </a:rPr>
            <a:t>1. Exploring Different Sensors</a:t>
          </a:r>
          <a:endParaRPr lang="en-GB" sz="1600" kern="1200" dirty="0">
            <a:solidFill>
              <a:schemeClr val="bg1"/>
            </a:solidFill>
          </a:endParaRPr>
        </a:p>
      </dsp:txBody>
      <dsp:txXfrm>
        <a:off x="2260" y="0"/>
        <a:ext cx="1316012" cy="1144770"/>
      </dsp:txXfrm>
    </dsp:sp>
    <dsp:sp modelId="{24E70D15-55D9-5549-B03A-0A09639FF143}">
      <dsp:nvSpPr>
        <dsp:cNvPr id="0" name=""/>
        <dsp:cNvSpPr/>
      </dsp:nvSpPr>
      <dsp:spPr>
        <a:xfrm>
          <a:off x="517170" y="1287867"/>
          <a:ext cx="286192" cy="28619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8B55B-6BAB-304F-8F6F-FB2DAAF501A7}">
      <dsp:nvSpPr>
        <dsp:cNvPr id="0" name=""/>
        <dsp:cNvSpPr/>
      </dsp:nvSpPr>
      <dsp:spPr>
        <a:xfrm>
          <a:off x="1384073" y="1717156"/>
          <a:ext cx="1316012" cy="114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600" kern="1200" dirty="0">
              <a:solidFill>
                <a:schemeClr val="bg1"/>
              </a:solidFill>
            </a:rPr>
            <a:t>2. Allan Variance </a:t>
          </a:r>
          <a:endParaRPr lang="en-GB" sz="1600" kern="1200" dirty="0">
            <a:solidFill>
              <a:schemeClr val="bg1"/>
            </a:solidFill>
          </a:endParaRPr>
        </a:p>
      </dsp:txBody>
      <dsp:txXfrm>
        <a:off x="1384073" y="1717156"/>
        <a:ext cx="1316012" cy="1144770"/>
      </dsp:txXfrm>
    </dsp:sp>
    <dsp:sp modelId="{C592C02E-899E-944A-A0ED-4513EFD8B28E}">
      <dsp:nvSpPr>
        <dsp:cNvPr id="0" name=""/>
        <dsp:cNvSpPr/>
      </dsp:nvSpPr>
      <dsp:spPr>
        <a:xfrm>
          <a:off x="1898983" y="1287867"/>
          <a:ext cx="286192" cy="286192"/>
        </a:xfrm>
        <a:prstGeom prst="ellipse">
          <a:avLst/>
        </a:prstGeom>
        <a:solidFill>
          <a:schemeClr val="accent4">
            <a:hueOff val="1319987"/>
            <a:satOff val="-5840"/>
            <a:lumOff val="-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7B9B5D-1BB4-6F42-A5D2-74ADA2EB1207}">
      <dsp:nvSpPr>
        <dsp:cNvPr id="0" name=""/>
        <dsp:cNvSpPr/>
      </dsp:nvSpPr>
      <dsp:spPr>
        <a:xfrm>
          <a:off x="2765886" y="0"/>
          <a:ext cx="1316012" cy="114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600" kern="1200" dirty="0">
              <a:solidFill>
                <a:schemeClr val="bg1"/>
              </a:solidFill>
            </a:rPr>
            <a:t>3. IMUs Errors</a:t>
          </a:r>
          <a:endParaRPr lang="en-GB" sz="1600" kern="1200" dirty="0">
            <a:solidFill>
              <a:schemeClr val="bg1"/>
            </a:solidFill>
          </a:endParaRPr>
        </a:p>
      </dsp:txBody>
      <dsp:txXfrm>
        <a:off x="2765886" y="0"/>
        <a:ext cx="1316012" cy="1144770"/>
      </dsp:txXfrm>
    </dsp:sp>
    <dsp:sp modelId="{A5CD11BA-E3C6-6D47-B4DA-AD04B23176F6}">
      <dsp:nvSpPr>
        <dsp:cNvPr id="0" name=""/>
        <dsp:cNvSpPr/>
      </dsp:nvSpPr>
      <dsp:spPr>
        <a:xfrm>
          <a:off x="3280796" y="1287867"/>
          <a:ext cx="286192" cy="286192"/>
        </a:xfrm>
        <a:prstGeom prst="ellipse">
          <a:avLst/>
        </a:prstGeom>
        <a:solidFill>
          <a:schemeClr val="accent4">
            <a:hueOff val="2639975"/>
            <a:satOff val="-11681"/>
            <a:lumOff val="-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4FCD3F-040A-8D4D-9C20-E3BBF618112B}">
      <dsp:nvSpPr>
        <dsp:cNvPr id="0" name=""/>
        <dsp:cNvSpPr/>
      </dsp:nvSpPr>
      <dsp:spPr>
        <a:xfrm>
          <a:off x="4147700" y="1717156"/>
          <a:ext cx="1316012" cy="114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600" kern="1200" dirty="0">
              <a:solidFill>
                <a:schemeClr val="bg1"/>
              </a:solidFill>
            </a:rPr>
            <a:t>4. SW Architecture </a:t>
          </a:r>
          <a:endParaRPr lang="en-GB" sz="1600" kern="1200" dirty="0">
            <a:solidFill>
              <a:schemeClr val="bg1"/>
            </a:solidFill>
          </a:endParaRPr>
        </a:p>
      </dsp:txBody>
      <dsp:txXfrm>
        <a:off x="4147700" y="1717156"/>
        <a:ext cx="1316012" cy="1144770"/>
      </dsp:txXfrm>
    </dsp:sp>
    <dsp:sp modelId="{1B9D88CD-2010-2140-8AB7-8B52FED6B6A7}">
      <dsp:nvSpPr>
        <dsp:cNvPr id="0" name=""/>
        <dsp:cNvSpPr/>
      </dsp:nvSpPr>
      <dsp:spPr>
        <a:xfrm>
          <a:off x="4662610" y="1287867"/>
          <a:ext cx="286192" cy="286192"/>
        </a:xfrm>
        <a:prstGeom prst="ellipse">
          <a:avLst/>
        </a:prstGeom>
        <a:solidFill>
          <a:schemeClr val="accent4">
            <a:hueOff val="3959962"/>
            <a:satOff val="-17521"/>
            <a:lumOff val="-294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DF4943-7039-9649-829D-E2F2EC36DCA0}">
      <dsp:nvSpPr>
        <dsp:cNvPr id="0" name=""/>
        <dsp:cNvSpPr/>
      </dsp:nvSpPr>
      <dsp:spPr>
        <a:xfrm>
          <a:off x="5529513" y="0"/>
          <a:ext cx="1316012" cy="114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600" kern="1200" dirty="0">
              <a:solidFill>
                <a:schemeClr val="bg1"/>
              </a:solidFill>
            </a:rPr>
            <a:t>5. Results</a:t>
          </a:r>
          <a:endParaRPr lang="en-GB" sz="1600" kern="1200" dirty="0">
            <a:solidFill>
              <a:schemeClr val="bg1"/>
            </a:solidFill>
          </a:endParaRPr>
        </a:p>
      </dsp:txBody>
      <dsp:txXfrm>
        <a:off x="5529513" y="0"/>
        <a:ext cx="1316012" cy="1144770"/>
      </dsp:txXfrm>
    </dsp:sp>
    <dsp:sp modelId="{290D9A9C-DB44-4C4C-9E99-9919FDE33FE1}">
      <dsp:nvSpPr>
        <dsp:cNvPr id="0" name=""/>
        <dsp:cNvSpPr/>
      </dsp:nvSpPr>
      <dsp:spPr>
        <a:xfrm>
          <a:off x="6044423" y="1287867"/>
          <a:ext cx="286192" cy="286192"/>
        </a:xfrm>
        <a:prstGeom prst="ellipse">
          <a:avLst/>
        </a:prstGeom>
        <a:solidFill>
          <a:schemeClr val="accent4">
            <a:hueOff val="5279950"/>
            <a:satOff val="-23362"/>
            <a:lumOff val="-3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D9E817-899C-8543-8E8E-4A02243240CE}">
      <dsp:nvSpPr>
        <dsp:cNvPr id="0" name=""/>
        <dsp:cNvSpPr/>
      </dsp:nvSpPr>
      <dsp:spPr>
        <a:xfrm>
          <a:off x="6911326" y="1717156"/>
          <a:ext cx="1316012" cy="1144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1600" kern="1200" dirty="0">
              <a:solidFill>
                <a:schemeClr val="bg1"/>
              </a:solidFill>
            </a:rPr>
            <a:t>6. Sensor Fusion </a:t>
          </a:r>
          <a:endParaRPr lang="en-GB" sz="1600" kern="1200" dirty="0">
            <a:solidFill>
              <a:schemeClr val="bg1"/>
            </a:solidFill>
          </a:endParaRPr>
        </a:p>
      </dsp:txBody>
      <dsp:txXfrm>
        <a:off x="6911326" y="1717156"/>
        <a:ext cx="1316012" cy="1144770"/>
      </dsp:txXfrm>
    </dsp:sp>
    <dsp:sp modelId="{94723166-720C-A245-A9E4-609B2FD07AD3}">
      <dsp:nvSpPr>
        <dsp:cNvPr id="0" name=""/>
        <dsp:cNvSpPr/>
      </dsp:nvSpPr>
      <dsp:spPr>
        <a:xfrm>
          <a:off x="7426236" y="1287867"/>
          <a:ext cx="286192" cy="286192"/>
        </a:xfrm>
        <a:prstGeom prst="ellipse">
          <a:avLst/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F815C-54B7-784E-8F66-3BE5DBE11834}" type="datetimeFigureOut">
              <a:rPr lang="en-DE" smtClean="0"/>
              <a:t>22.06.26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E835D-7F48-FD4C-B340-AEA0702D3B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85347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DK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en.wikipedia.org/wiki/Microelectromechanical_systems" TargetMode="External"/><Relationship Id="rId4" Type="http://schemas.openxmlformats.org/officeDocument/2006/relationships/hyperlink" Target="https://en.wikipedia.org/wiki/InvenSense#cite_note-bloomberg-6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calgary.ca/engo_webdocs/NES/04.20201.HaiyingHou.pdf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calgary.ca/engo_webdocs/NES/04.20201.HaiyingHou.pdf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36208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December 2016, the company was acquired by electronics company </a:t>
            </a:r>
            <a:r>
              <a:rPr lang="en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TDK"/>
              </a:rPr>
              <a:t>TDK</a:t>
            </a:r>
            <a:r>
              <a:rPr lang="en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US$1.3 billion.</a:t>
            </a:r>
            <a:r>
              <a:rPr lang="en-DE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[6]</a:t>
            </a:r>
            <a:r>
              <a:rPr lang="en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InvenSense became part of the </a:t>
            </a:r>
            <a:r>
              <a:rPr lang="en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Microelectromechanical systems"/>
              </a:rPr>
              <a:t>MEMS</a:t>
            </a:r>
            <a:r>
              <a:rPr lang="en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Sensors Business Group in 2017. In February 2018, Chirp Microsystems joined InvenSense through its acquisition by TDK.</a:t>
            </a:r>
            <a:br>
              <a:rPr lang="en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Sources</a:t>
            </a:r>
            <a:br>
              <a:rPr lang="en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Wikipedia: 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en.wikipedia.org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/wiki/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InvenSense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--&gt;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InvenSense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History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sheets of each sensor </a:t>
            </a:r>
            <a:b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 data of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mpu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its datasheet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29707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FB72E-1E0D-558C-0235-6655D8D4A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1E37D-C37B-BC5E-5AC2-60C4B17B2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8A3F57-7944-0AA3-A249-E5BD8825E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Sources</a:t>
            </a:r>
          </a:p>
          <a:p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 Inertial Sensors Errors Using Allan Variance, </a:t>
            </a:r>
            <a:r>
              <a:rPr lang="en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UNIVERSITY OF CALGARY</a:t>
            </a:r>
            <a:br>
              <a:rPr lang="en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IEEE Std 952-1997  Annex C7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9E666-41CD-F6AE-2393-CCD1805B34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53876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5A405-59CB-F6E3-A6B1-BE26BA213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CF4603-FBAD-3031-D8FE-AD52ED235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7A155-0F34-F124-25CF-209A249C9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b="1" dirty="0"/>
              <a:t>Sources</a:t>
            </a:r>
          </a:p>
          <a:p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1) Modeling Inertial Sensors Errors Using Allan Variance, </a:t>
            </a:r>
            <a:r>
              <a:rPr lang="en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UNIVERSITY OF CALGARY</a:t>
            </a:r>
            <a:br>
              <a:rPr lang="en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2) IEEE Std 952-1997  Annex C7 Characterization of Errors and Noises in MEMS Inertial Sensors Using Allan Variance Method</a:t>
            </a:r>
          </a:p>
          <a:p>
            <a:endParaRPr lang="en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8EC41-8754-BECB-CDC3-C42FCA931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074846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4F3F2-CC4D-DF3E-4494-FB82FE584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261FC-FA61-F922-67E1-5F554011B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BA4979-7455-C082-6D78-D11B866F5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b="1" dirty="0"/>
              <a:t>Sources</a:t>
            </a:r>
          </a:p>
          <a:p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1) Modeling Inertial Sensors Errors Using Allan Variance, </a:t>
            </a:r>
            <a:r>
              <a:rPr lang="en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UNIVERSITY OF CALGARY</a:t>
            </a:r>
            <a:br>
              <a:rPr lang="en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2) IEEE Std 952-1997  Annex C7 Characterization of Errors and Noises in MEMS Inertial Sensors Using Allan Variance Method</a:t>
            </a:r>
          </a:p>
          <a:p>
            <a:endParaRPr lang="en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B7D9B-80A6-6A41-8FD8-7310C40BB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85785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b="1" dirty="0"/>
              <a:t>Sources</a:t>
            </a:r>
          </a:p>
          <a:p>
            <a:r>
              <a:rPr lang="en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1) Modeling Inertial Sensors Errors Using Allan Variance, </a:t>
            </a:r>
            <a:r>
              <a:rPr lang="en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UNIVERSITY OF CALGARY</a:t>
            </a:r>
            <a:br>
              <a:rPr lang="en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2) IEEE Std 952-1997  Annex C7 Characterization of Errors and Noises in MEMS Inertial Sensors Using Allan Variance Method</a:t>
            </a:r>
          </a:p>
          <a:p>
            <a:endParaRPr lang="en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76373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E" altLang="en-DE" dirty="0">
                <a:solidFill>
                  <a:schemeClr val="bg1"/>
                </a:solidFill>
                <a:latin typeface="-webkit-standard"/>
              </a:rPr>
              <a:t> </a:t>
            </a:r>
            <a:r>
              <a:rPr lang="en-GB" altLang="en-DE" dirty="0">
                <a:solidFill>
                  <a:schemeClr val="bg1"/>
                </a:solidFill>
                <a:latin typeface="-webkit-standard"/>
              </a:rPr>
              <a:t>B</a:t>
            </a:r>
            <a:r>
              <a:rPr lang="en-DE" altLang="en-DE" dirty="0">
                <a:solidFill>
                  <a:schemeClr val="bg1"/>
                </a:solidFill>
                <a:latin typeface="-webkit-standard"/>
              </a:rPr>
              <a:t>ut shouldn’t exceed the filter bandwidth to avoid coleration. 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12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61814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32AFB-C76E-3016-66C0-05E7EA48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F443A-FB8F-A553-0238-67161F12C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2FAE2-39FA-BA0A-E2A0-3DD0842E7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www.ucalgary.ca</a:t>
            </a:r>
            <a:r>
              <a:rPr lang="en-GB" dirty="0"/>
              <a:t>/</a:t>
            </a:r>
            <a:r>
              <a:rPr lang="en-GB" dirty="0" err="1"/>
              <a:t>engo_webdocs</a:t>
            </a:r>
            <a:r>
              <a:rPr lang="en-GB" dirty="0"/>
              <a:t>/NES/04.20201.HaiyingHou.pdf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69A4E-5AAA-125E-C5D4-4F57BBFDA8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15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67204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www.ucalgary.ca</a:t>
            </a:r>
            <a:r>
              <a:rPr lang="en-GB" dirty="0"/>
              <a:t>/</a:t>
            </a:r>
            <a:r>
              <a:rPr lang="en-GB" dirty="0" err="1"/>
              <a:t>engo_webdocs</a:t>
            </a:r>
            <a:r>
              <a:rPr lang="en-GB" dirty="0"/>
              <a:t>/NES/04.20201.HaiyingHou.pdf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16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48681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03A6E-C8F7-3CEE-E545-FF17CE5B3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472FB-6E43-3515-821A-9D403CA6A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EB38B-15AE-88E3-A297-6D1A9E1F0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www.ucalgary.ca</a:t>
            </a:r>
            <a:r>
              <a:rPr lang="en-GB" dirty="0"/>
              <a:t>/</a:t>
            </a:r>
            <a:r>
              <a:rPr lang="en-GB" dirty="0" err="1"/>
              <a:t>engo_webdocs</a:t>
            </a:r>
            <a:r>
              <a:rPr lang="en-GB" dirty="0"/>
              <a:t>/NES/04.20201.HaiyingHou.pdf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B0600-CD11-D8FD-0381-818A87DA13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17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74059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709A5-BF6D-C5CC-1F50-1DAD62040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A6E5E7-D818-5B7A-320C-3ACF39046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892024-AE66-ACBD-111D-465A9300A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www.ucalgary.ca</a:t>
            </a:r>
            <a:r>
              <a:rPr lang="en-GB" dirty="0"/>
              <a:t>/</a:t>
            </a:r>
            <a:r>
              <a:rPr lang="en-GB" dirty="0" err="1"/>
              <a:t>engo_webdocs</a:t>
            </a:r>
            <a:r>
              <a:rPr lang="en-GB" dirty="0"/>
              <a:t>/NES/04.20201.HaiyingHou.pdf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80080-14CA-7811-D176-8D1FDA60A5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18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843558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D2147-1E66-286B-5010-527828B80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86D02-76B6-9BF8-26F9-6A78483EB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3885E-7466-A933-952F-7C3521138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www.ucalgary.ca</a:t>
            </a:r>
            <a:r>
              <a:rPr lang="en-GB" dirty="0"/>
              <a:t>/</a:t>
            </a:r>
            <a:r>
              <a:rPr lang="en-GB" dirty="0" err="1"/>
              <a:t>engo_webdocs</a:t>
            </a:r>
            <a:r>
              <a:rPr lang="en-GB" dirty="0"/>
              <a:t>/NES/04.20201.HaiyingHou.pdf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0A7FB-32E6-6FCD-D639-1A97114C46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19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27258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0234B-9314-6911-B923-01155D02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274A6-2220-A4B6-546E-E1520D226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347B64-C2FD-EAAB-9C44-3466C7FA0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www.ucalgary.ca</a:t>
            </a:r>
            <a:r>
              <a:rPr lang="en-GB" dirty="0"/>
              <a:t>/</a:t>
            </a:r>
            <a:r>
              <a:rPr lang="en-GB" dirty="0" err="1"/>
              <a:t>engo_webdocs</a:t>
            </a:r>
            <a:r>
              <a:rPr lang="en-GB" dirty="0"/>
              <a:t>/NES/04.20201.HaiyingHou.pdf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AE2FC-3CA2-5C6C-3D27-B35074B4C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20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090956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b="0" i="0" u="sng" dirty="0">
                <a:effectLst/>
                <a:hlinkClick r:id="rId3"/>
              </a:rPr>
              <a:t>https://www.ucalgary.ca/engo_webdocs/NES/04.20201.HaiyingHou.pdf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23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750461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24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076271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E" b="0" i="0" u="sng" dirty="0">
                <a:effectLst/>
                <a:hlinkClick r:id="rId3"/>
              </a:rPr>
              <a:t>https://www.ucalgary.ca/engo_webdocs/NES/04.20201.HaiyingHou.pdf</a:t>
            </a:r>
            <a:endParaRPr lang="en-DE" dirty="0"/>
          </a:p>
          <a:p>
            <a:endParaRPr lang="en-DE" dirty="0"/>
          </a:p>
          <a:p>
            <a:endParaRPr lang="en-DE" dirty="0"/>
          </a:p>
          <a:p>
            <a:r>
              <a:rPr lang="en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Logging at 1 kHz while FS = 1.125 kHz means you are occasionally missing one internal sample every ~8 samples — the internal buffer gets a new sample every 0.889 ms but you read every 1 ms. This creates a very slight irregular spacing — some reads grab a fresh sample, some grab a sample that is 0.125 ms stale.</a:t>
            </a:r>
          </a:p>
          <a:p>
            <a:r>
              <a:rPr lang="en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Allan Variance purposes this is negligible. The timing jitter introduced is 0.125 ms which is far smaller than your shortest τ of interest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26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236720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A) Wasting Cycles and Not determinstic (5 ms code excution + 1000)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27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792492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www.youtube.com</a:t>
            </a:r>
            <a:r>
              <a:rPr lang="en-GB" dirty="0"/>
              <a:t>/</a:t>
            </a:r>
            <a:r>
              <a:rPr lang="en-GB" dirty="0" err="1"/>
              <a:t>watch?v</a:t>
            </a:r>
            <a:r>
              <a:rPr lang="en-GB" dirty="0"/>
              <a:t>=seQuVd4oR2w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28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09621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FD661-A3B2-2FE7-E6C2-E17C3ABB6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A18CC8-4FF0-5A17-C0BB-7A3A8E661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D1FD17-F98F-D790-EA20-706901EED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ADBCB-5EE3-89A1-1503-A3B882CCB3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29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280054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7F660-EAD2-6968-7EB3-2C0E7FC2E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FCD0D9-0497-3821-9988-44CA45900B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2F96D-7438-F1FB-FC8B-284BDA984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124E1-E6E5-7439-B4D5-D8B451414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31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631379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EB2EA-19FE-BFDE-929F-7851F2AC3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F3C4B5-5814-C386-0476-0615BB2E8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BA666-6362-DC96-7AF5-6CB3AFA35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7E38A-A109-B217-E0A1-C10323BC6F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32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583008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08DD7-346D-CD8B-DE49-BDF55F2F5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9FF10-092B-422B-119D-E07ECF63F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B7E1EF-831F-8DD9-7AC3-095A25893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34FCB-BED5-E361-0084-B6E747F3FA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33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246644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07AFA-470B-9D90-974E-C7F28C91E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0259E8-751E-E609-970D-3936BCA1F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682D59-17F4-4E4B-5B45-8E7A21FDC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60BF2-4A2E-3C74-0D73-A706F3AED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34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857273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2D9AF-CE80-2F0B-2200-79DFE261B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AF2650-B43A-79A4-3B9E-A3EE92F5E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72C91-FD28-A7BD-F676-2AB0C1974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24753-30B3-2754-0F0E-9669BFB0F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35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63791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D12CE-A843-A462-271E-BBC805456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A3D076-C56E-E3DD-01B1-9BE78F663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AE0B90-B201-2778-81D3-AF13CAB2F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A) Wasting Cycles and Not determinstic (5 ms code excution + 1000)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149E9-4F56-B665-1347-0525A9464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37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210872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4D89C-3E25-8620-0690-501DA3C23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B201B-1B55-3610-CFC8-0F0C1BBAB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5DF11-C465-E86F-5C14-5F8F0CF96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4DF00-8CE1-A429-99F9-EEA34F4A2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38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327664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7194B-621D-BB50-D382-23F5ACE55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28DF4-B7B5-BFCE-4AA9-F021990EA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38A24-4E64-1B4E-056C-70E502471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147B1-C243-5F03-617D-576587663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39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601652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40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471668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3A1E2-C0F5-26C3-46F4-E4E6C83CC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EADD8-3ACE-6432-D0D1-B3B20668E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20055-C074-D492-800A-83BA9DD92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77E9F-B9F2-6E02-5F3E-DEF1A284E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41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913699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B7140-B796-059D-05C8-B55C89B1A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8693F1-2F69-12CC-D9EA-D04107468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9CA2E6-03C0-4C66-CD4E-0D8C46C63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6E1E7-A5AE-A62A-8BB8-C39EA40F39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46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769704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289D3-C00A-54D2-C493-42A20FA00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9E701-2FDC-79FE-66D5-8CA2D026B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35814F-78E9-0F7D-DF0B-69267D175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F12EB-CB1F-DF8A-9BC6-7C7689E4A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47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708806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761F4-E0DB-F356-85D9-608790D3D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ED731-89F5-63E8-E8F6-C1375F11B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EA790-F5CE-90CA-A81D-FA69BAA1A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7B00C-8414-AD0C-E651-DB1F7F5694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48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716476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EB00C-9E1D-8BC1-B014-2050D4A19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A4EE27-9ECB-92AC-376A-C92FB9999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1C100C-C8A4-BADD-BA55-4C471DB1B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14B01-8A9C-EBFE-5929-FC70389B3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E835D-7F48-FD4C-B340-AEA0702D3BCA}" type="slidenum">
              <a:rPr lang="en-DE" smtClean="0"/>
              <a:t>49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13590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AE9AD-548D-CC8E-9391-62A3646CD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70543D-FA9E-5F54-368A-EB1D531A2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10C78-FD9A-817E-D0E6-A6E048074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43E01-0C39-3241-8D97-74BA2223DBB0}" type="datetime1">
              <a:rPr lang="de-DE" smtClean="0"/>
              <a:t>22.06.26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0071A-5B63-77F6-F602-9BAC8A7B0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111FB-086A-CD0F-0ACA-FD3BEF187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‹#›</a:t>
            </a:fld>
            <a:endParaRPr lang="en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8CD3E4-8676-FB9B-37B2-D5E74DC63268}"/>
              </a:ext>
            </a:extLst>
          </p:cNvPr>
          <p:cNvSpPr txBox="1"/>
          <p:nvPr userDrawn="1"/>
        </p:nvSpPr>
        <p:spPr>
          <a:xfrm>
            <a:off x="10755086" y="7982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24436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A35B-A25B-20DD-298A-D19725162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3EB0B-AB27-439B-56A5-7A2551803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845E6-39BA-84B0-C5F3-9D2228080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44AF8-3186-804D-9CCA-3404D8A0EFD5}" type="datetime1">
              <a:rPr lang="de-DE" smtClean="0"/>
              <a:t>22.06.26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A0C53-0A57-0F13-1F9D-625C685B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F40F4-D16F-094B-FFF5-1D3EB117F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77358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9EDE6-E48E-F8F7-CFDD-EA0EF0491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3484A-F98B-A4EF-244A-9A5699A71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7EA28-3FFC-458A-663B-9C6F37F5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F0B56-C3AC-7C4D-8C1D-788BB3AE0D37}" type="datetime1">
              <a:rPr lang="de-DE" smtClean="0"/>
              <a:t>22.06.26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2C03A-F53B-3583-8203-37A4E5CED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CD6A4-0573-48C6-9831-2F555A1BC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84778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37764-B4A2-F457-340E-73722BF10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B1045-3F9E-8BFB-9BBE-B419E49C33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5FDAAF-7311-1E15-9655-44E28F834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1854E-0833-33F6-6CAD-82514619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67FA2-24FC-9144-AAFB-D6E8715B3FD9}" type="datetime1">
              <a:rPr lang="de-DE" smtClean="0"/>
              <a:t>22.06.26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CEA9C-4F75-9AC4-86D5-F6F629F1A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A61B2-A716-D757-DBAA-686AF1F10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3155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9CB1C-726E-89BB-6C28-D41C719C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669A0-2CAD-7BD9-AD3E-1FA5B3454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8ADBF-A297-A95D-B9D3-A946E0F3C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CF2D7E-4D7A-31CC-6F01-D37A44C4A0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60AD51-FABC-4198-A8DC-CD69FD1DC9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692635-8AF7-6342-C467-68561D2DF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A628F-4CA5-2F47-B96D-2E3921B423B7}" type="datetime1">
              <a:rPr lang="de-DE" smtClean="0"/>
              <a:t>22.06.26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B565D2-1601-9E0B-C834-33FFDBA77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947F3A-022E-C66D-3E83-3EFF43F89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5237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3F6AF-D7C3-59E0-A01E-5F2ADA89A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9A8BEE-5864-079D-EF59-F2C88DA44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BFACD-E4FE-5547-B23E-8A6FDA3AB017}" type="datetime1">
              <a:rPr lang="de-DE" smtClean="0"/>
              <a:t>22.06.26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968DC7-6F53-7F08-2097-3A55A337D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02520A-0C1D-072A-9E69-077EED180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58947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B723B6-52C4-B4D8-2821-EB8C5F69F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0BC12-775D-E54F-A26D-46EE55E5FC4A}" type="datetime1">
              <a:rPr lang="de-DE" smtClean="0"/>
              <a:t>22.06.26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435F44-8CC2-C7AF-831D-6B767A537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D59C2-CB8D-D8DE-CD32-1E3B37732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24394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32189-7442-6209-01C6-27F1B4AB0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7C851-BC89-6FBE-6DEC-CF39B4820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DE5AA5-5E37-EF0A-1080-D6BD786E3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3DAF3-8396-B59A-D0C5-0FB6560C7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CF22C-F49C-4345-B30D-8C1D0CE2E869}" type="datetime1">
              <a:rPr lang="de-DE" smtClean="0"/>
              <a:t>22.06.26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5C763-4CD6-5F41-3504-E5E5CC870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C57CF-750D-EAE7-09D8-FBEB27682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204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2C852-297D-DE41-8083-654C96BB7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ECF474-2FA8-74C4-0898-0C89AB3649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D9649-74B3-A983-2EBE-B44548682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F2CAE-D342-03DE-BD3D-9104B53D5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F8F5A-6FC2-BE45-8DF3-9E1DFDFCA9E5}" type="datetime1">
              <a:rPr lang="de-DE" smtClean="0"/>
              <a:t>22.06.26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B1D6B-6CDB-F97E-ACCE-913BA80C5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84263-BA41-6760-F399-827FAE15D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45479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2AF9D-C71B-0AE2-8AAC-BDD52A460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5A61AE-FC5F-3F77-932F-F5222BD7E4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BFAF0-4F28-CD2F-3E66-E9CB0E829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59C6-25E2-B842-AC82-4AE2E026116B}" type="datetime1">
              <a:rPr lang="de-DE" smtClean="0"/>
              <a:t>22.06.26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19571-112E-951A-49F9-383E13152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9DD0E-2279-5FF4-20D5-D1156F18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69692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CAAE71-57BB-488D-2FFF-28EB57B653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BF13C-79EF-A5E1-AD76-58CA1EBC6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4DA83-83ED-484F-63D7-9F1150ED8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02735-FBE7-A340-86A0-D06F8D7C24D5}" type="datetime1">
              <a:rPr lang="de-DE" smtClean="0"/>
              <a:t>22.06.26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C239C-9A70-A03C-5405-73384464A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5F79A-3C73-A170-06B2-E9732AB89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31908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CEF22F-C311-06A0-06EB-34E98F5D8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7A776-F8B3-E009-0294-AFA016129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DF052-67A7-4AB8-B283-DEB821856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423ECB-5466-D74F-BECC-54D12FF82622}" type="datetime1">
              <a:rPr lang="de-DE" smtClean="0"/>
              <a:t>22.06.26</a:t>
            </a:fld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B75E5-1AF1-66C5-33AD-5E5AB1E22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BDB5A4-C567-C746-A827-6CFD268A5ED9}" type="slidenum">
              <a:rPr lang="en-DE" smtClean="0"/>
              <a:t>‹#›</a:t>
            </a:fld>
            <a:endParaRPr lang="en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A1F420-724A-1950-9D4C-994992EC85B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3112"/>
            <a:ext cx="12192000" cy="6861112"/>
          </a:xfrm>
          <a:prstGeom prst="rect">
            <a:avLst/>
          </a:prstGeom>
        </p:spPr>
      </p:pic>
      <p:pic>
        <p:nvPicPr>
          <p:cNvPr id="9" name="Picture 8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77A5C61E-3B5A-C60D-BB56-25D81C970E0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002078" y="154264"/>
            <a:ext cx="1917700" cy="914400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21FA4DE-5468-AB76-522D-BA2ED26C5B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37937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hyperlink" Target="https://www.ucalgary.ca/engo_webdocs/NES/04.20201.HaiyingHou.pdf" TargetMode="External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calgary.ca/engo_webdocs/NES/04.20201.HaiyingHou.pdf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jpe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4.svg"/><Relationship Id="rId4" Type="http://schemas.openxmlformats.org/officeDocument/2006/relationships/image" Target="../media/image8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9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34281-998E-7AB8-9860-DA0028E1F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96104"/>
            <a:ext cx="9144000" cy="2387600"/>
          </a:xfrm>
        </p:spPr>
        <p:txBody>
          <a:bodyPr>
            <a:norm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Phase One</a:t>
            </a:r>
            <a:br>
              <a:rPr lang="en-DE" dirty="0">
                <a:solidFill>
                  <a:schemeClr val="bg1"/>
                </a:solidFill>
              </a:rPr>
            </a:br>
            <a:r>
              <a:rPr lang="en-DE" sz="3200" dirty="0">
                <a:solidFill>
                  <a:schemeClr val="bg1"/>
                </a:solidFill>
              </a:rPr>
              <a:t>Evaluation of Different IMUs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D7D6B-B9DF-CE14-C480-D1891B8C5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71884"/>
            <a:ext cx="9144000" cy="1655762"/>
          </a:xfrm>
        </p:spPr>
        <p:txBody>
          <a:bodyPr anchor="ctr">
            <a:normAutofit/>
          </a:bodyPr>
          <a:lstStyle/>
          <a:p>
            <a:r>
              <a:rPr lang="en-DE" sz="2000" dirty="0">
                <a:solidFill>
                  <a:schemeClr val="bg1"/>
                </a:solidFill>
              </a:rPr>
              <a:t>Supervisor: Prof. Leutlet</a:t>
            </a:r>
          </a:p>
          <a:p>
            <a:r>
              <a:rPr lang="en-DE" sz="2000" dirty="0">
                <a:solidFill>
                  <a:schemeClr val="bg1"/>
                </a:solidFill>
              </a:rPr>
              <a:t>Author: Abdelrahman Hewala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C6E03-8D00-B933-AD6C-B49463D36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15386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FACCE-2DF5-1AD2-C054-500F97C4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470271D-62FB-7D50-DE3C-9CC8D31E8C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8487198"/>
              </p:ext>
            </p:extLst>
          </p:nvPr>
        </p:nvGraphicFramePr>
        <p:xfrm>
          <a:off x="1524000" y="1916260"/>
          <a:ext cx="9144000" cy="28619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858EB-8A67-0800-ED40-92F1D44DE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61487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B5235-83BD-DFE2-150B-8E6418D1C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91010-FDEC-3701-B131-B8F655FCA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1811"/>
            <a:ext cx="9144000" cy="1174377"/>
          </a:xfrm>
        </p:spPr>
        <p:txBody>
          <a:bodyPr>
            <a:normAutofit fontScale="90000"/>
          </a:bodyPr>
          <a:lstStyle/>
          <a:p>
            <a:r>
              <a:rPr lang="en-DE" dirty="0">
                <a:solidFill>
                  <a:schemeClr val="bg1"/>
                </a:solidFill>
              </a:rPr>
              <a:t>1. Exploring Different Sensors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FADDBB-F530-0B57-4DE7-878C84C15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3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950415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829B8-4008-FE11-EF49-539BDEE9E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A4DBA-E4AB-4D3C-6FD2-A5EF7127D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669" y="104959"/>
            <a:ext cx="11704917" cy="742764"/>
          </a:xfrm>
        </p:spPr>
        <p:txBody>
          <a:bodyPr>
            <a:normAutofit/>
          </a:bodyPr>
          <a:lstStyle/>
          <a:p>
            <a:pPr algn="l"/>
            <a:r>
              <a:rPr lang="en-DE" sz="3600" dirty="0">
                <a:solidFill>
                  <a:schemeClr val="bg1"/>
                </a:solidFill>
              </a:rPr>
              <a:t>Exploring Different Sensors  Noise Characterstics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89C663-7A7E-8226-8E9C-3CC003853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4</a:t>
            </a:fld>
            <a:endParaRPr lang="en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2674BE-9D2B-50AA-7846-C74216124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9695" y="1023880"/>
            <a:ext cx="1542452" cy="15424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C656AE-2811-020D-945B-2C9CFC51A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5380" y="947055"/>
            <a:ext cx="1953216" cy="15826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66209E-6B7E-D0A7-AEB4-6416425A4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7175" y="1094360"/>
            <a:ext cx="2037904" cy="1421269"/>
          </a:xfrm>
          <a:prstGeom prst="rect">
            <a:avLst/>
          </a:prstGeom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616DD20-A51E-DD20-E630-BCE69FC953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20334"/>
              </p:ext>
            </p:extLst>
          </p:nvPr>
        </p:nvGraphicFramePr>
        <p:xfrm>
          <a:off x="385482" y="2629021"/>
          <a:ext cx="11143130" cy="4029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626">
                  <a:extLst>
                    <a:ext uri="{9D8B030D-6E8A-4147-A177-3AD203B41FA5}">
                      <a16:colId xmlns:a16="http://schemas.microsoft.com/office/drawing/2014/main" val="2705763200"/>
                    </a:ext>
                  </a:extLst>
                </a:gridCol>
                <a:gridCol w="2228626">
                  <a:extLst>
                    <a:ext uri="{9D8B030D-6E8A-4147-A177-3AD203B41FA5}">
                      <a16:colId xmlns:a16="http://schemas.microsoft.com/office/drawing/2014/main" val="2826245490"/>
                    </a:ext>
                  </a:extLst>
                </a:gridCol>
                <a:gridCol w="2228626">
                  <a:extLst>
                    <a:ext uri="{9D8B030D-6E8A-4147-A177-3AD203B41FA5}">
                      <a16:colId xmlns:a16="http://schemas.microsoft.com/office/drawing/2014/main" val="2059965678"/>
                    </a:ext>
                  </a:extLst>
                </a:gridCol>
                <a:gridCol w="2228626">
                  <a:extLst>
                    <a:ext uri="{9D8B030D-6E8A-4147-A177-3AD203B41FA5}">
                      <a16:colId xmlns:a16="http://schemas.microsoft.com/office/drawing/2014/main" val="1760361312"/>
                    </a:ext>
                  </a:extLst>
                </a:gridCol>
                <a:gridCol w="2228626">
                  <a:extLst>
                    <a:ext uri="{9D8B030D-6E8A-4147-A177-3AD203B41FA5}">
                      <a16:colId xmlns:a16="http://schemas.microsoft.com/office/drawing/2014/main" val="844618077"/>
                    </a:ext>
                  </a:extLst>
                </a:gridCol>
              </a:tblGrid>
              <a:tr h="4898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800" dirty="0">
                          <a:solidFill>
                            <a:schemeClr val="bg1"/>
                          </a:solidFill>
                        </a:rPr>
                        <a:t>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800" dirty="0">
                          <a:solidFill>
                            <a:schemeClr val="bg1"/>
                          </a:solidFill>
                        </a:rPr>
                        <a:t>MPU6050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>
                          <a:solidFill>
                            <a:schemeClr val="bg1"/>
                          </a:solidFill>
                        </a:rPr>
                        <a:t>ICM-20948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solidFill>
                            <a:schemeClr val="bg1"/>
                          </a:solidFill>
                        </a:rPr>
                        <a:t>ICM-45686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800" dirty="0">
                          <a:solidFill>
                            <a:schemeClr val="bg1"/>
                          </a:solidFill>
                        </a:rPr>
                        <a:t>WT901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50153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DE" dirty="0"/>
                        <a:t>Manufacturer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InvenSense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InvenSense (TDK)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InvenSense (TDK)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WitMotion Shenzhen Co.,Ltd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374640"/>
                  </a:ext>
                </a:extLst>
              </a:tr>
              <a:tr h="489815">
                <a:tc>
                  <a:txBody>
                    <a:bodyPr/>
                    <a:lstStyle/>
                    <a:p>
                      <a:r>
                        <a:rPr lang="en-DE" dirty="0"/>
                        <a:t>Initial Release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11/24/2010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12/07/2016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July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2019 (Lack of Doc)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34896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DE" dirty="0"/>
                        <a:t>Max Sampling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G: 8 kHz, A: 1kHz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G: 9 kHz , A: 4.5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G, A: 6.4 kHz</a:t>
                      </a:r>
                    </a:p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200 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233358"/>
                  </a:ext>
                </a:extLst>
              </a:tr>
              <a:tr h="489815">
                <a:tc>
                  <a:txBody>
                    <a:bodyPr/>
                    <a:lstStyle/>
                    <a:p>
                      <a:r>
                        <a:rPr lang="en-DE" dirty="0"/>
                        <a:t>Filters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DLPF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DLPF</a:t>
                      </a:r>
                      <a:endParaRPr lang="en-DE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Complex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Kalman Filter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53923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DE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Accel’S Noise Spectral Density 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400 µ</a:t>
                      </a:r>
                      <a:r>
                        <a:rPr lang="en-DE" sz="18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r>
                        <a:rPr lang="en-DE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/√Hz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230 µg/√Hz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70 – 110 </a:t>
                      </a:r>
                      <a:r>
                        <a:rPr lang="en-DE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µg/√Hz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75 - 100 µg /√Hz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28436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Gyro’S Noise Spectral Density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DE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0.005 dps/√Hz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0.015 dps/√Hz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0.0038</a:t>
                      </a:r>
                      <a:r>
                        <a:rPr lang="en-DE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dps/√Hz</a:t>
                      </a:r>
                      <a:endParaRPr lang="en-DE" dirty="0"/>
                    </a:p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0.007 dps/√Hz.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952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7657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10906-BB27-0185-0A05-D5776FA8F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28677B-04C5-7837-1DBC-C3A6C32C4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5</a:t>
            </a:fld>
            <a:endParaRPr lang="en-DE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950BE6E-E32B-9756-F07D-ACAFDCF00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221" y="1344706"/>
            <a:ext cx="11223811" cy="2814917"/>
          </a:xfrm>
        </p:spPr>
        <p:txBody>
          <a:bodyPr>
            <a:noAutofit/>
          </a:bodyPr>
          <a:lstStyle/>
          <a:p>
            <a:pPr algn="l"/>
            <a:r>
              <a:rPr lang="en-GB" sz="2800" dirty="0">
                <a:solidFill>
                  <a:schemeClr val="bg1"/>
                </a:solidFill>
              </a:rPr>
              <a:t>T</a:t>
            </a:r>
            <a:r>
              <a:rPr lang="en-DE" sz="2800" dirty="0">
                <a:solidFill>
                  <a:schemeClr val="bg1"/>
                </a:solidFill>
              </a:rPr>
              <a:t>o Design the best Filtering Algotisthm for an IMU, we need to understand the Static Behaviour of t</a:t>
            </a:r>
            <a:r>
              <a:rPr lang="en-GB" sz="2800" dirty="0">
                <a:solidFill>
                  <a:schemeClr val="bg1"/>
                </a:solidFill>
              </a:rPr>
              <a:t>he</a:t>
            </a:r>
            <a:r>
              <a:rPr lang="en-DE" sz="2800" dirty="0">
                <a:solidFill>
                  <a:schemeClr val="bg1"/>
                </a:solidFill>
              </a:rPr>
              <a:t> sensor (its noise Charactersitcs/ Parameters).  </a:t>
            </a:r>
            <a:br>
              <a:rPr lang="en-DE" sz="2800" dirty="0">
                <a:solidFill>
                  <a:schemeClr val="bg1"/>
                </a:solidFill>
              </a:rPr>
            </a:br>
            <a:br>
              <a:rPr lang="en-DE" sz="2800" dirty="0">
                <a:solidFill>
                  <a:schemeClr val="bg1"/>
                </a:solidFill>
              </a:rPr>
            </a:br>
            <a:r>
              <a:rPr lang="en-GB" sz="2800" dirty="0">
                <a:solidFill>
                  <a:schemeClr val="bg1"/>
                </a:solidFill>
              </a:rPr>
              <a:t>T</a:t>
            </a:r>
            <a:r>
              <a:rPr lang="en-DE" sz="2800" dirty="0">
                <a:solidFill>
                  <a:schemeClr val="bg1"/>
                </a:solidFill>
              </a:rPr>
              <a:t>he Lower the Noise Coeffecients the better the Sensor is</a:t>
            </a:r>
            <a:br>
              <a:rPr lang="en-DE" sz="2800" dirty="0">
                <a:solidFill>
                  <a:schemeClr val="bg1"/>
                </a:solidFill>
              </a:rPr>
            </a:br>
            <a:br>
              <a:rPr lang="en-DE" sz="2800" dirty="0">
                <a:solidFill>
                  <a:schemeClr val="bg1"/>
                </a:solidFill>
              </a:rPr>
            </a:br>
            <a:r>
              <a:rPr lang="en-DE" sz="2800" dirty="0">
                <a:solidFill>
                  <a:schemeClr val="bg1"/>
                </a:solidFill>
              </a:rPr>
              <a:t>The Method being used for Extracting &amp; comparing the Noise Coeffecients is</a:t>
            </a:r>
            <a:br>
              <a:rPr lang="en-DE" sz="2800" dirty="0">
                <a:solidFill>
                  <a:schemeClr val="bg1"/>
                </a:solidFill>
              </a:rPr>
            </a:br>
            <a:r>
              <a:rPr lang="en-DE" sz="2800" dirty="0">
                <a:solidFill>
                  <a:schemeClr val="bg1"/>
                </a:solidFill>
              </a:rPr>
              <a:t>The Overlapping Allan Varriance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E99549A-1CC2-02A3-8B64-7A10B633F70F}"/>
              </a:ext>
            </a:extLst>
          </p:cNvPr>
          <p:cNvSpPr txBox="1">
            <a:spLocks/>
          </p:cNvSpPr>
          <p:nvPr/>
        </p:nvSpPr>
        <p:spPr>
          <a:xfrm>
            <a:off x="83669" y="104959"/>
            <a:ext cx="11704917" cy="7427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DE" sz="3600">
                <a:solidFill>
                  <a:schemeClr val="bg1"/>
                </a:solidFill>
              </a:rPr>
              <a:t>Exploring Different Sensors  Noise Characterstics</a:t>
            </a:r>
            <a:endParaRPr lang="en-DE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922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02488-CF8C-2870-2DE7-0EC9771EE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B0A97-927A-FBEC-7BE3-00FAD8811B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1811"/>
            <a:ext cx="9144000" cy="1174377"/>
          </a:xfrm>
        </p:spPr>
        <p:txBody>
          <a:bodyPr>
            <a:normAutofit/>
          </a:bodyPr>
          <a:lstStyle/>
          <a:p>
            <a:pPr lvl="0"/>
            <a:r>
              <a:rPr lang="en-DE" dirty="0">
                <a:solidFill>
                  <a:schemeClr val="bg1"/>
                </a:solidFill>
              </a:rPr>
              <a:t>2. Allan Varriance 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E81D6A-F336-B816-145A-76031713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6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268425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E02D6-5491-6254-45E9-041713455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61954F-0343-2E73-2D5C-3A33E92B7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7</a:t>
            </a:fld>
            <a:endParaRPr lang="en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AACF59-8F00-6120-6489-FDD65FDD97A5}"/>
              </a:ext>
            </a:extLst>
          </p:cNvPr>
          <p:cNvSpPr txBox="1">
            <a:spLocks/>
          </p:cNvSpPr>
          <p:nvPr/>
        </p:nvSpPr>
        <p:spPr>
          <a:xfrm>
            <a:off x="83669" y="104959"/>
            <a:ext cx="11704917" cy="7427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DE" sz="3600" dirty="0">
                <a:solidFill>
                  <a:schemeClr val="bg1"/>
                </a:solidFill>
              </a:rPr>
              <a:t>Allan Varriance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3611E409-5BB3-2294-2589-92DC088445A1}"/>
              </a:ext>
            </a:extLst>
          </p:cNvPr>
          <p:cNvSpPr txBox="1">
            <a:spLocks/>
          </p:cNvSpPr>
          <p:nvPr/>
        </p:nvSpPr>
        <p:spPr>
          <a:xfrm>
            <a:off x="324221" y="1035981"/>
            <a:ext cx="11223811" cy="56854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David Allan Introduced his method for measuring the stability of </a:t>
            </a:r>
            <a:r>
              <a:rPr lang="en-DE" sz="2000" dirty="0">
                <a:solidFill>
                  <a:schemeClr val="bg1"/>
                </a:solidFill>
              </a:rPr>
              <a:t>oscillator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DE" sz="2000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In 1983, M. Tehrani gave out the detailed deviation about the Allan variance noise terms expression from their rate noise power spectral density for the ring laser gyro (Tehrani 1983) </a:t>
            </a:r>
            <a:endParaRPr lang="en-DE" sz="2000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DE" sz="2000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Because of the close analogies to inertial sensors, the method has been adapted to random drift characterization of a variety of devices (IEEE Std952-1997). – Tehrani equations included in the Annex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In 2003, the Allan variance method was first applied in Micro Electrical Mechanical Sensor (MEMS) noise identification (Hou and El-</a:t>
            </a:r>
            <a:r>
              <a:rPr lang="en-GB" sz="2000" dirty="0" err="1">
                <a:solidFill>
                  <a:schemeClr val="bg1"/>
                </a:solidFill>
              </a:rPr>
              <a:t>Sheimy</a:t>
            </a:r>
            <a:r>
              <a:rPr lang="en-GB" sz="2000" dirty="0">
                <a:solidFill>
                  <a:schemeClr val="bg1"/>
                </a:solidFill>
              </a:rPr>
              <a:t> 2003).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DE" sz="2000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One of the most notable deficiencies of the standard Allan variance is the non-unique characterization of white angle, flicker angle, and quantization noise at the high frequency end, and random rate ramp vs. flicker angular acceleration at the low-frequency end. These, however, may be sorted out by using the Modified Allan variance and/or </a:t>
            </a:r>
            <a:r>
              <a:rPr lang="en-GB" sz="2000" dirty="0" err="1">
                <a:solidFill>
                  <a:schemeClr val="bg1"/>
                </a:solidFill>
              </a:rPr>
              <a:t>prewhitening</a:t>
            </a:r>
            <a:r>
              <a:rPr lang="en-GB" sz="2000" dirty="0">
                <a:solidFill>
                  <a:schemeClr val="bg1"/>
                </a:solidFill>
              </a:rPr>
              <a:t> methods (IEEE Std952-1997) – page 51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/>
                </a:solidFill>
              </a:rPr>
              <a:t>Maximum efficiency is obtained by using an algorithm that uses maximum overlap. (IEEE Std952-1997) – page 51</a:t>
            </a:r>
            <a:br>
              <a:rPr lang="en-GB" sz="2000" dirty="0">
                <a:solidFill>
                  <a:schemeClr val="bg1"/>
                </a:solidFill>
              </a:rPr>
            </a:br>
            <a:br>
              <a:rPr lang="en-DE" sz="2000" dirty="0">
                <a:solidFill>
                  <a:schemeClr val="bg1"/>
                </a:solidFill>
              </a:rPr>
            </a:br>
            <a:r>
              <a:rPr lang="en-GB" sz="2000" dirty="0">
                <a:solidFill>
                  <a:schemeClr val="bg1"/>
                </a:solidFill>
              </a:rPr>
              <a:t> </a:t>
            </a:r>
            <a:endParaRPr lang="en-DE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805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60D48-E4B9-6966-E138-1A70FB14F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8591078-1A59-F4D5-460F-88257CA68AF5}"/>
              </a:ext>
            </a:extLst>
          </p:cNvPr>
          <p:cNvSpPr txBox="1">
            <a:spLocks/>
          </p:cNvSpPr>
          <p:nvPr/>
        </p:nvSpPr>
        <p:spPr>
          <a:xfrm>
            <a:off x="83669" y="104959"/>
            <a:ext cx="11704917" cy="7427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DE" sz="3600" dirty="0">
                <a:solidFill>
                  <a:schemeClr val="bg1"/>
                </a:solidFill>
              </a:rPr>
              <a:t>Allan Varriance</a:t>
            </a:r>
          </a:p>
        </p:txBody>
      </p:sp>
      <p:sp>
        <p:nvSpPr>
          <p:cNvPr id="12" name="AutoShape 10">
            <a:extLst>
              <a:ext uri="{FF2B5EF4-FFF2-40B4-BE49-F238E27FC236}">
                <a16:creationId xmlns:a16="http://schemas.microsoft.com/office/drawing/2014/main" id="{03A93BEE-A932-F5C9-B5E2-6B1E48F19A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DE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CCC62A-5FED-BD1C-AD64-6BD65A2AE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40" y="1081003"/>
            <a:ext cx="6904533" cy="18322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18FDB5-211C-617C-6B71-29317A0B82A0}"/>
                  </a:ext>
                </a:extLst>
              </p:cNvPr>
              <p:cNvSpPr txBox="1"/>
              <p:nvPr/>
            </p:nvSpPr>
            <p:spPr>
              <a:xfrm>
                <a:off x="556140" y="3615856"/>
                <a:ext cx="2478434" cy="6578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18FDB5-211C-617C-6B71-29317A0B8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40" y="3615856"/>
                <a:ext cx="2478434" cy="657809"/>
              </a:xfrm>
              <a:prstGeom prst="rect">
                <a:avLst/>
              </a:prstGeom>
              <a:blipFill>
                <a:blip r:embed="rId4"/>
                <a:stretch>
                  <a:fillRect l="-1523" t="-169811" r="-1015" b="-24905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F53CE1-88E4-A7B4-09EF-73F25C3CC137}"/>
              </a:ext>
            </a:extLst>
          </p:cNvPr>
          <p:cNvCxnSpPr/>
          <p:nvPr/>
        </p:nvCxnSpPr>
        <p:spPr>
          <a:xfrm flipV="1">
            <a:off x="1246909" y="2234045"/>
            <a:ext cx="228600" cy="14443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3406F71-2941-0E11-7C4B-89886717C79B}"/>
                  </a:ext>
                </a:extLst>
              </p:cNvPr>
              <p:cNvSpPr txBox="1"/>
              <p:nvPr/>
            </p:nvSpPr>
            <p:spPr>
              <a:xfrm>
                <a:off x="3775390" y="3595927"/>
                <a:ext cx="2986459" cy="6588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GB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next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DE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3406F71-2941-0E11-7C4B-89886717C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390" y="3595927"/>
                <a:ext cx="2986459" cy="658898"/>
              </a:xfrm>
              <a:prstGeom prst="rect">
                <a:avLst/>
              </a:prstGeom>
              <a:blipFill>
                <a:blip r:embed="rId5"/>
                <a:stretch>
                  <a:fillRect l="-1695" t="-171698" r="-1271" b="-24717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BF6E57A-AD15-251F-F5EB-4AF1C0DEEB65}"/>
              </a:ext>
            </a:extLst>
          </p:cNvPr>
          <p:cNvCxnSpPr>
            <a:cxnSpLocks/>
          </p:cNvCxnSpPr>
          <p:nvPr/>
        </p:nvCxnSpPr>
        <p:spPr>
          <a:xfrm flipH="1" flipV="1">
            <a:off x="3447345" y="2234045"/>
            <a:ext cx="906446" cy="1194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3A46786-7219-BF47-2965-506CB75166FC}"/>
                  </a:ext>
                </a:extLst>
              </p:cNvPr>
              <p:cNvSpPr txBox="1"/>
              <p:nvPr/>
            </p:nvSpPr>
            <p:spPr>
              <a:xfrm>
                <a:off x="5730307" y="4375975"/>
                <a:ext cx="2175596" cy="3013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DE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where</m:t>
                      </m:r>
                      <m:r>
                        <m:rPr>
                          <m:nor/>
                        </m:rPr>
                        <a:rPr lang="en-DE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  </m:t>
                      </m:r>
                      <m:sSub>
                        <m:sSubPr>
                          <m:ctrlPr>
                            <a:rPr lang="en-DE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DE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DE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DE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m:rPr>
                          <m:nor/>
                        </m:rPr>
                        <a:rPr lang="en-DE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 </m:t>
                      </m:r>
                      <m:r>
                        <m:rPr>
                          <m:nor/>
                        </m:rPr>
                        <a:rPr lang="en-DE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DE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 </m:t>
                      </m:r>
                      <m:sSub>
                        <m:sSubPr>
                          <m:ctrlPr>
                            <a:rPr lang="en-DE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DE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DE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m:rPr>
                          <m:nor/>
                        </m:rPr>
                        <a:rPr lang="en-DE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 </m:t>
                      </m:r>
                      <m:r>
                        <m:rPr>
                          <m:nor/>
                        </m:rPr>
                        <a:rPr lang="en-DE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DE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 </m:t>
                      </m:r>
                      <m:r>
                        <m:rPr>
                          <m:nor/>
                        </m:rPr>
                        <a:rPr lang="en-DE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en-DE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3A46786-7219-BF47-2965-506CB7516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307" y="4375975"/>
                <a:ext cx="2175596" cy="301365"/>
              </a:xfrm>
              <a:prstGeom prst="rect">
                <a:avLst/>
              </a:prstGeom>
              <a:blipFill>
                <a:blip r:embed="rId6"/>
                <a:stretch>
                  <a:fillRect l="-2907" t="-8000" r="-1744" b="-28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C7A55A83-F080-65F2-DF1D-491C8B4686F4}"/>
              </a:ext>
            </a:extLst>
          </p:cNvPr>
          <p:cNvSpPr txBox="1"/>
          <p:nvPr/>
        </p:nvSpPr>
        <p:spPr>
          <a:xfrm>
            <a:off x="7905903" y="1310715"/>
            <a:ext cx="38826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The average Variance/std between each two adjacent Clusters with Varying Size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324166C-0B09-5395-647E-696F7CB5AC93}"/>
                  </a:ext>
                </a:extLst>
              </p:cNvPr>
              <p:cNvSpPr txBox="1"/>
              <p:nvPr/>
            </p:nvSpPr>
            <p:spPr>
              <a:xfrm>
                <a:off x="1262974" y="4923468"/>
                <a:ext cx="2745432" cy="2961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+1,</m:t>
                          </m:r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GB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next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324166C-0B09-5395-647E-696F7CB5A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974" y="4923468"/>
                <a:ext cx="2745432" cy="296107"/>
              </a:xfrm>
              <a:prstGeom prst="rect">
                <a:avLst/>
              </a:prstGeom>
              <a:blipFill>
                <a:blip r:embed="rId7"/>
                <a:stretch>
                  <a:fillRect l="-2765" b="-3333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269012D-FAB7-54F8-1631-FE5B4692B93D}"/>
              </a:ext>
            </a:extLst>
          </p:cNvPr>
          <p:cNvCxnSpPr>
            <a:cxnSpLocks/>
          </p:cNvCxnSpPr>
          <p:nvPr/>
        </p:nvCxnSpPr>
        <p:spPr>
          <a:xfrm>
            <a:off x="1575582" y="4107766"/>
            <a:ext cx="487313" cy="731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43DB7EE-F67B-A301-7FEF-92E7BEAB8DBA}"/>
              </a:ext>
            </a:extLst>
          </p:cNvPr>
          <p:cNvCxnSpPr>
            <a:cxnSpLocks/>
          </p:cNvCxnSpPr>
          <p:nvPr/>
        </p:nvCxnSpPr>
        <p:spPr>
          <a:xfrm flipH="1">
            <a:off x="3271944" y="4027966"/>
            <a:ext cx="808791" cy="873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B25EA34-2E69-1730-E1C6-ADF185BED8C8}"/>
                  </a:ext>
                </a:extLst>
              </p:cNvPr>
              <p:cNvSpPr txBox="1"/>
              <p:nvPr/>
            </p:nvSpPr>
            <p:spPr>
              <a:xfrm>
                <a:off x="1029664" y="5606155"/>
                <a:ext cx="4484561" cy="2961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Variance</m:t>
                      </m:r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de-DE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GB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next</m:t>
                                  </m:r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B25EA34-2E69-1730-E1C6-ADF185BED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664" y="5606155"/>
                <a:ext cx="4484561" cy="296107"/>
              </a:xfrm>
              <a:prstGeom prst="rect">
                <a:avLst/>
              </a:prstGeom>
              <a:blipFill>
                <a:blip r:embed="rId8"/>
                <a:stretch>
                  <a:fillRect l="-847" t="-4167" b="-3333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0F3A02E-98D3-C1B8-7EA7-63E81232A04D}"/>
              </a:ext>
            </a:extLst>
          </p:cNvPr>
          <p:cNvCxnSpPr>
            <a:cxnSpLocks/>
          </p:cNvCxnSpPr>
          <p:nvPr/>
        </p:nvCxnSpPr>
        <p:spPr>
          <a:xfrm>
            <a:off x="2711345" y="5367662"/>
            <a:ext cx="0" cy="257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A081681-0472-A2A3-E737-B4633914342D}"/>
                  </a:ext>
                </a:extLst>
              </p:cNvPr>
              <p:cNvSpPr txBox="1"/>
              <p:nvPr/>
            </p:nvSpPr>
            <p:spPr>
              <a:xfrm>
                <a:off x="1029664" y="6199091"/>
                <a:ext cx="4213205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True</m:t>
                      </m:r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Variance</m:t>
                      </m:r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GB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next</m:t>
                                  </m:r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A081681-0472-A2A3-E737-B46339143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664" y="6199091"/>
                <a:ext cx="4213205" cy="518604"/>
              </a:xfrm>
              <a:prstGeom prst="rect">
                <a:avLst/>
              </a:prstGeom>
              <a:blipFill>
                <a:blip r:embed="rId9"/>
                <a:stretch>
                  <a:fillRect l="-904" t="-4878" r="-301" b="-1463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F89E343-4584-6254-E034-5F10506346F5}"/>
              </a:ext>
            </a:extLst>
          </p:cNvPr>
          <p:cNvCxnSpPr>
            <a:cxnSpLocks/>
          </p:cNvCxnSpPr>
          <p:nvPr/>
        </p:nvCxnSpPr>
        <p:spPr>
          <a:xfrm>
            <a:off x="3136266" y="5941758"/>
            <a:ext cx="0" cy="257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loud 48">
            <a:extLst>
              <a:ext uri="{FF2B5EF4-FFF2-40B4-BE49-F238E27FC236}">
                <a16:creationId xmlns:a16="http://schemas.microsoft.com/office/drawing/2014/main" id="{65CA9C34-A1DF-98C9-D2FD-6035EDD70522}"/>
              </a:ext>
            </a:extLst>
          </p:cNvPr>
          <p:cNvSpPr/>
          <p:nvPr/>
        </p:nvSpPr>
        <p:spPr>
          <a:xfrm>
            <a:off x="7023925" y="2207852"/>
            <a:ext cx="5056909" cy="2092006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DE" altLang="en-DE" dirty="0">
                <a:solidFill>
                  <a:schemeClr val="bg1"/>
                </a:solidFill>
                <a:latin typeface="Arial" panose="020B0604020202020204" pitchFamily="34" charset="0"/>
              </a:rPr>
              <a:t>Since we are subtracting two </a:t>
            </a:r>
            <a:r>
              <a:rPr lang="en-DE" altLang="en-DE" b="1" dirty="0">
                <a:solidFill>
                  <a:schemeClr val="bg1"/>
                </a:solidFill>
                <a:latin typeface="Arial" panose="020B0604020202020204" pitchFamily="34" charset="0"/>
              </a:rPr>
              <a:t>uncorrelated</a:t>
            </a:r>
            <a:r>
              <a:rPr lang="en-DE" altLang="en-DE" dirty="0">
                <a:solidFill>
                  <a:schemeClr val="bg1"/>
                </a:solidFill>
                <a:latin typeface="Arial" panose="020B0604020202020204" pitchFamily="34" charset="0"/>
              </a:rPr>
              <a:t> quantities, the variance of the difference is the sum of their individual variances: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D8D2E7A-97A7-1B55-AD8E-F8690C892C60}"/>
                  </a:ext>
                </a:extLst>
              </p:cNvPr>
              <p:cNvSpPr txBox="1"/>
              <p:nvPr/>
            </p:nvSpPr>
            <p:spPr>
              <a:xfrm>
                <a:off x="7795540" y="3942175"/>
                <a:ext cx="3667221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GB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next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en-DE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D8D2E7A-97A7-1B55-AD8E-F8690C892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5540" y="3942175"/>
                <a:ext cx="3667221" cy="312650"/>
              </a:xfrm>
              <a:prstGeom prst="rect">
                <a:avLst/>
              </a:prstGeom>
              <a:blipFill>
                <a:blip r:embed="rId10"/>
                <a:stretch>
                  <a:fillRect l="-1034" b="-2692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C66ECCB-6C3C-C8E0-74ED-452317553ABF}"/>
              </a:ext>
            </a:extLst>
          </p:cNvPr>
          <p:cNvCxnSpPr/>
          <p:nvPr/>
        </p:nvCxnSpPr>
        <p:spPr>
          <a:xfrm>
            <a:off x="6248400" y="4838846"/>
            <a:ext cx="0" cy="18788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30A583D-4B51-7400-8A59-9AC1640D4C54}"/>
              </a:ext>
            </a:extLst>
          </p:cNvPr>
          <p:cNvSpPr txBox="1"/>
          <p:nvPr/>
        </p:nvSpPr>
        <p:spPr>
          <a:xfrm>
            <a:off x="5583382" y="2971800"/>
            <a:ext cx="2244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DE" dirty="0"/>
              <a:t>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D8E79B5-9BD4-AAA7-C1F8-452D4011080A}"/>
                  </a:ext>
                </a:extLst>
              </p:cNvPr>
              <p:cNvSpPr txBox="1"/>
              <p:nvPr/>
            </p:nvSpPr>
            <p:spPr>
              <a:xfrm>
                <a:off x="5730307" y="5289530"/>
                <a:ext cx="5309637" cy="5186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⟨"/>
                          <m:endChr m:val="⟩"/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GB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next</m:t>
                                          </m:r>
                                        </m:sub>
                                      </m:sSub>
                                    </m:e>
                                  </m:acc>
                                  <m:d>
                                    <m:dPr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d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acc>
                                  <m:d>
                                    <m:dPr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D8E79B5-9BD4-AAA7-C1F8-452D40110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307" y="5289530"/>
                <a:ext cx="5309637" cy="518604"/>
              </a:xfrm>
              <a:prstGeom prst="rect">
                <a:avLst/>
              </a:prstGeom>
              <a:blipFill>
                <a:blip r:embed="rId11"/>
                <a:stretch>
                  <a:fillRect t="-4762" b="-1190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179EE62-29EF-98B5-345D-5161585D9EA1}"/>
              </a:ext>
            </a:extLst>
          </p:cNvPr>
          <p:cNvSpPr txBox="1"/>
          <p:nvPr/>
        </p:nvSpPr>
        <p:spPr>
          <a:xfrm>
            <a:off x="7905903" y="5816909"/>
            <a:ext cx="4031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altLang="en-DE" dirty="0">
                <a:solidFill>
                  <a:schemeClr val="bg1"/>
                </a:solidFill>
                <a:latin typeface="-webkit-standard"/>
              </a:rPr>
              <a:t>where </a:t>
            </a:r>
            <a:r>
              <a:rPr lang="en-DE" altLang="en-DE" dirty="0">
                <a:solidFill>
                  <a:schemeClr val="bg1"/>
                </a:solidFill>
              </a:rPr>
              <a:t>⟨ ⟩</a:t>
            </a:r>
            <a:r>
              <a:rPr lang="en-DE" altLang="en-DE" dirty="0">
                <a:solidFill>
                  <a:schemeClr val="bg1"/>
                </a:solidFill>
                <a:latin typeface="-webkit-standard"/>
              </a:rPr>
              <a:t> is the ensemble average.</a:t>
            </a:r>
            <a:endParaRPr lang="en-DE" altLang="en-D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endParaRPr lang="en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5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28" grpId="0"/>
      <p:bldP spid="29" grpId="0"/>
      <p:bldP spid="31" grpId="0"/>
      <p:bldP spid="37" grpId="0"/>
      <p:bldP spid="45" grpId="0"/>
      <p:bldP spid="49" grpId="0" animBg="1"/>
      <p:bldP spid="52" grpId="0"/>
      <p:bldP spid="61" grpId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5211D-F830-9CAC-C0B6-BD6E53833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D84A15-EDE1-AA24-EA5A-A2D3F25B8778}"/>
              </a:ext>
            </a:extLst>
          </p:cNvPr>
          <p:cNvSpPr txBox="1">
            <a:spLocks/>
          </p:cNvSpPr>
          <p:nvPr/>
        </p:nvSpPr>
        <p:spPr>
          <a:xfrm>
            <a:off x="83669" y="104959"/>
            <a:ext cx="11704917" cy="7427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DE" sz="3600" dirty="0">
                <a:solidFill>
                  <a:schemeClr val="bg1"/>
                </a:solidFill>
              </a:rPr>
              <a:t>Overlapping Allan Varriance</a:t>
            </a:r>
          </a:p>
        </p:txBody>
      </p:sp>
      <p:sp>
        <p:nvSpPr>
          <p:cNvPr id="12" name="AutoShape 10">
            <a:extLst>
              <a:ext uri="{FF2B5EF4-FFF2-40B4-BE49-F238E27FC236}">
                <a16:creationId xmlns:a16="http://schemas.microsoft.com/office/drawing/2014/main" id="{E93AF3AA-8F01-97E2-81C9-0932A49C61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DE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12A442-9397-9F7A-2AF8-DB2B46962A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2510" y="1081003"/>
            <a:ext cx="6622472" cy="25903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B6360B-6267-D77C-FF9E-6AD8299F1AAE}"/>
                  </a:ext>
                </a:extLst>
              </p:cNvPr>
              <p:cNvSpPr txBox="1"/>
              <p:nvPr/>
            </p:nvSpPr>
            <p:spPr>
              <a:xfrm>
                <a:off x="1821544" y="4195440"/>
                <a:ext cx="7571838" cy="13031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⟨"/>
                          <m:endChr m:val="⟩"/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GB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next</m:t>
                                          </m:r>
                                        </m:sub>
                                      </m:sSub>
                                    </m:e>
                                  </m:acc>
                                  <m:d>
                                    <m:dPr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d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acc>
                                  <m:d>
                                    <m:dPr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de-DE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</m:t>
                      </m:r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GB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next</m:t>
                                          </m:r>
                                        </m:sub>
                                      </m:sSub>
                                    </m:e>
                                  </m:acc>
                                  <m:d>
                                    <m:dPr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d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acc>
                                  <m:d>
                                    <m:dPr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de-DE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B6360B-6267-D77C-FF9E-6AD8299F1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1544" y="4195440"/>
                <a:ext cx="7571838" cy="1303114"/>
              </a:xfrm>
              <a:prstGeom prst="rect">
                <a:avLst/>
              </a:prstGeom>
              <a:blipFill>
                <a:blip r:embed="rId4"/>
                <a:stretch>
                  <a:fillRect t="-28155" b="-10485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B3EED28-EFD3-7AC6-B3CA-7155095D0643}"/>
              </a:ext>
            </a:extLst>
          </p:cNvPr>
          <p:cNvSpPr txBox="1"/>
          <p:nvPr/>
        </p:nvSpPr>
        <p:spPr>
          <a:xfrm>
            <a:off x="4593113" y="5797709"/>
            <a:ext cx="5908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N-2n, so that when </a:t>
            </a:r>
            <a:r>
              <a:rPr lang="en-GB" dirty="0">
                <a:solidFill>
                  <a:schemeClr val="bg1"/>
                </a:solidFill>
              </a:rPr>
              <a:t>I</a:t>
            </a:r>
            <a:r>
              <a:rPr lang="en-DE" dirty="0">
                <a:solidFill>
                  <a:schemeClr val="bg1"/>
                </a:solidFill>
              </a:rPr>
              <a:t>’m at that last K term (N-2n), still have n samples for t</a:t>
            </a:r>
            <a:r>
              <a:rPr lang="en-GB" dirty="0">
                <a:solidFill>
                  <a:schemeClr val="bg1"/>
                </a:solidFill>
              </a:rPr>
              <a:t>he</a:t>
            </a:r>
            <a:r>
              <a:rPr lang="en-DE" dirty="0">
                <a:solidFill>
                  <a:schemeClr val="bg1"/>
                </a:solidFill>
              </a:rPr>
              <a:t> current Cluster and another n samples for the next Cluster to be able to get their variance </a:t>
            </a:r>
          </a:p>
        </p:txBody>
      </p:sp>
    </p:spTree>
    <p:extLst>
      <p:ext uri="{BB962C8B-B14F-4D97-AF65-F5344CB8AC3E}">
        <p14:creationId xmlns:p14="http://schemas.microsoft.com/office/powerpoint/2010/main" val="298371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91436-4DAA-24D4-2C40-6736F33E6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C311E6-AC49-9D20-A661-65E3A52799F4}"/>
              </a:ext>
            </a:extLst>
          </p:cNvPr>
          <p:cNvSpPr txBox="1">
            <a:spLocks/>
          </p:cNvSpPr>
          <p:nvPr/>
        </p:nvSpPr>
        <p:spPr>
          <a:xfrm>
            <a:off x="83669" y="104959"/>
            <a:ext cx="11704917" cy="7427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DE" sz="3600" dirty="0">
                <a:solidFill>
                  <a:schemeClr val="bg1"/>
                </a:solidFill>
              </a:rPr>
              <a:t>Overlapping Allan Varriance in Discrete Form</a:t>
            </a:r>
          </a:p>
        </p:txBody>
      </p:sp>
      <p:sp>
        <p:nvSpPr>
          <p:cNvPr id="12" name="AutoShape 10">
            <a:extLst>
              <a:ext uri="{FF2B5EF4-FFF2-40B4-BE49-F238E27FC236}">
                <a16:creationId xmlns:a16="http://schemas.microsoft.com/office/drawing/2014/main" id="{005364BC-F7B0-84B4-E595-1DF2ED73C9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DE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B0DFE69-020B-D345-A52D-33C25711F2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2219" y="1081003"/>
            <a:ext cx="5230374" cy="204405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BE51519-2740-F410-49D3-95A6678DB609}"/>
              </a:ext>
            </a:extLst>
          </p:cNvPr>
          <p:cNvSpPr txBox="1"/>
          <p:nvPr/>
        </p:nvSpPr>
        <p:spPr>
          <a:xfrm>
            <a:off x="374072" y="3286036"/>
            <a:ext cx="11139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As The angle or velocity measures are done in discrete times given by t= kt0, k = 1,2,3...,N. The notation is simplified as θk = θ(kt0). The cluster averages can be rewritten as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E17B50-3D5C-8317-EE1E-F8FD30AB6101}"/>
              </a:ext>
            </a:extLst>
          </p:cNvPr>
          <p:cNvSpPr txBox="1"/>
          <p:nvPr/>
        </p:nvSpPr>
        <p:spPr>
          <a:xfrm>
            <a:off x="5583382" y="2971800"/>
            <a:ext cx="2244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DE" dirty="0"/>
              <a:t>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B50A82A-72E2-F806-26E8-3D34D56F84C2}"/>
                  </a:ext>
                </a:extLst>
              </p:cNvPr>
              <p:cNvSpPr txBox="1"/>
              <p:nvPr/>
            </p:nvSpPr>
            <p:spPr>
              <a:xfrm>
                <a:off x="637309" y="4218709"/>
                <a:ext cx="1943545" cy="5209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B50A82A-72E2-F806-26E8-3D34D56F8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09" y="4218709"/>
                <a:ext cx="1943545" cy="520912"/>
              </a:xfrm>
              <a:prstGeom prst="rect">
                <a:avLst/>
              </a:prstGeom>
              <a:blipFill>
                <a:blip r:embed="rId4"/>
                <a:stretch>
                  <a:fillRect l="-2597" t="-2439" r="-649" b="-1707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129DB1B-748B-3A8F-58D8-9EDD9702D5CA}"/>
                  </a:ext>
                </a:extLst>
              </p:cNvPr>
              <p:cNvSpPr txBox="1"/>
              <p:nvPr/>
            </p:nvSpPr>
            <p:spPr>
              <a:xfrm>
                <a:off x="3346478" y="4218709"/>
                <a:ext cx="2597121" cy="5209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GB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next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DE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129DB1B-748B-3A8F-58D8-9EDD9702D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478" y="4218709"/>
                <a:ext cx="2597121" cy="520912"/>
              </a:xfrm>
              <a:prstGeom prst="rect">
                <a:avLst/>
              </a:prstGeom>
              <a:blipFill>
                <a:blip r:embed="rId5"/>
                <a:stretch>
                  <a:fillRect l="-1456" t="-2439" b="-1707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7CA16B4-3224-CB2F-3414-87D7DD84CE53}"/>
                  </a:ext>
                </a:extLst>
              </p:cNvPr>
              <p:cNvSpPr txBox="1"/>
              <p:nvPr/>
            </p:nvSpPr>
            <p:spPr>
              <a:xfrm>
                <a:off x="6096000" y="5025963"/>
                <a:ext cx="5095177" cy="7981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de-D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de-D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de-D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de-DE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</m:d>
                        </m:sup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+2</m:t>
                                      </m:r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DE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7CA16B4-3224-CB2F-3414-87D7DD84C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025963"/>
                <a:ext cx="5095177" cy="798167"/>
              </a:xfrm>
              <a:prstGeom prst="rect">
                <a:avLst/>
              </a:prstGeom>
              <a:blipFill>
                <a:blip r:embed="rId6"/>
                <a:stretch>
                  <a:fillRect l="-249" t="-106250" b="-16718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D8DD5BD-1F8C-EAC8-7F08-FCCDB318ADC0}"/>
                  </a:ext>
                </a:extLst>
              </p:cNvPr>
              <p:cNvSpPr txBox="1"/>
              <p:nvPr/>
            </p:nvSpPr>
            <p:spPr>
              <a:xfrm>
                <a:off x="-215291" y="5025963"/>
                <a:ext cx="6151418" cy="8768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=≡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de-DE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p>
                            <m:sSup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GB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next</m:t>
                                          </m:r>
                                        </m:sub>
                                      </m:sSub>
                                    </m:e>
                                  </m:acc>
                                  <m:d>
                                    <m:dPr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d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GB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acc>
                                  <m:d>
                                    <m:dPr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D8DD5BD-1F8C-EAC8-7F08-FCCDB318A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5291" y="5025963"/>
                <a:ext cx="6151418" cy="876843"/>
              </a:xfrm>
              <a:prstGeom prst="rect">
                <a:avLst/>
              </a:prstGeom>
              <a:blipFill>
                <a:blip r:embed="rId7"/>
                <a:stretch>
                  <a:fillRect t="-92857" b="-14857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EC9E8DC-60A1-12D7-1244-6FA73617C715}"/>
                  </a:ext>
                </a:extLst>
              </p:cNvPr>
              <p:cNvSpPr txBox="1"/>
              <p:nvPr/>
            </p:nvSpPr>
            <p:spPr>
              <a:xfrm>
                <a:off x="4062580" y="6110472"/>
                <a:ext cx="3490443" cy="618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nary>
                        <m:nary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</m:e>
                      </m:nary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𝑓𝑇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DE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EC9E8DC-60A1-12D7-1244-6FA73617C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580" y="6110472"/>
                <a:ext cx="3490443" cy="618631"/>
              </a:xfrm>
              <a:prstGeom prst="rect">
                <a:avLst/>
              </a:prstGeom>
              <a:blipFill>
                <a:blip r:embed="rId8"/>
                <a:stretch>
                  <a:fillRect l="-362" t="-180000" b="-270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631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68" grpId="0"/>
      <p:bldP spid="69" grpId="0"/>
      <p:bldP spid="70" grpId="0"/>
      <p:bldP spid="72" grpId="0"/>
      <p:bldP spid="7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1EDBA-C848-4CB2-F5D0-3138AA76E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B41BB2-EF94-B7AE-5729-CB645344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11</a:t>
            </a:fld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B95823-00AC-6B3C-7220-3801BE330E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17"/>
          <a:stretch>
            <a:fillRect/>
          </a:stretch>
        </p:blipFill>
        <p:spPr>
          <a:xfrm>
            <a:off x="636059" y="1233056"/>
            <a:ext cx="10919881" cy="495486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26A1962-801D-F6C9-F48E-94D67958F6A0}"/>
              </a:ext>
            </a:extLst>
          </p:cNvPr>
          <p:cNvSpPr txBox="1">
            <a:spLocks/>
          </p:cNvSpPr>
          <p:nvPr/>
        </p:nvSpPr>
        <p:spPr>
          <a:xfrm>
            <a:off x="83669" y="104959"/>
            <a:ext cx="11704917" cy="7427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DE" sz="3600" dirty="0">
                <a:solidFill>
                  <a:schemeClr val="bg1"/>
                </a:solidFill>
              </a:rPr>
              <a:t>Overlapping Allan Varriance in Discrete Form</a:t>
            </a:r>
          </a:p>
        </p:txBody>
      </p:sp>
    </p:spTree>
    <p:extLst>
      <p:ext uri="{BB962C8B-B14F-4D97-AF65-F5344CB8AC3E}">
        <p14:creationId xmlns:p14="http://schemas.microsoft.com/office/powerpoint/2010/main" val="1846143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CFD0C-A79E-79EA-0666-9B839AF98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E149E5-DAC4-1BB6-F802-2270E578C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12</a:t>
            </a:fld>
            <a:endParaRPr lang="en-D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63A094-32D0-F727-027D-C003ED90E849}"/>
              </a:ext>
            </a:extLst>
          </p:cNvPr>
          <p:cNvSpPr txBox="1">
            <a:spLocks/>
          </p:cNvSpPr>
          <p:nvPr/>
        </p:nvSpPr>
        <p:spPr>
          <a:xfrm>
            <a:off x="83669" y="104959"/>
            <a:ext cx="11704917" cy="7427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DE" sz="3600" dirty="0">
                <a:solidFill>
                  <a:schemeClr val="bg1"/>
                </a:solidFill>
              </a:rPr>
              <a:t>Allan Variance Uncertainty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5A4762-30E6-6D46-8801-9F94B6B32C4C}"/>
                  </a:ext>
                </a:extLst>
              </p:cNvPr>
              <p:cNvSpPr txBox="1"/>
              <p:nvPr/>
            </p:nvSpPr>
            <p:spPr>
              <a:xfrm>
                <a:off x="4961805" y="2650777"/>
                <a:ext cx="1670009" cy="8649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GB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den>
                                  </m:f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5A4762-30E6-6D46-8801-9F94B6B32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805" y="2650777"/>
                <a:ext cx="1670009" cy="864980"/>
              </a:xfrm>
              <a:prstGeom prst="rect">
                <a:avLst/>
              </a:prstGeom>
              <a:blipFill>
                <a:blip r:embed="rId3"/>
                <a:stretch>
                  <a:fillRect t="-289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7DAC939-EAFD-2EDA-AD2E-12BF24486C29}"/>
              </a:ext>
            </a:extLst>
          </p:cNvPr>
          <p:cNvSpPr txBox="1"/>
          <p:nvPr/>
        </p:nvSpPr>
        <p:spPr>
          <a:xfrm>
            <a:off x="2015290" y="4335393"/>
            <a:ext cx="78416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solidFill>
                  <a:schemeClr val="bg1"/>
                </a:solidFill>
              </a:rPr>
              <a:t>Sh: </a:t>
            </a:r>
            <a:r>
              <a:rPr lang="en-DE" altLang="en-DE" dirty="0">
                <a:solidFill>
                  <a:schemeClr val="bg1"/>
                </a:solidFill>
                <a:latin typeface="-webkit-standard"/>
              </a:rPr>
              <a:t>We should run our logger at the highest meaningful frequency to maximise N and therefore increase the number of independent clusters at each τ.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altLang="en-DE" dirty="0">
              <a:solidFill>
                <a:schemeClr val="bg1"/>
              </a:solidFill>
              <a:latin typeface="-webkit-standar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altLang="en-DE" dirty="0">
                <a:solidFill>
                  <a:schemeClr val="bg1"/>
                </a:solidFill>
                <a:latin typeface="-webkit-standard"/>
              </a:rPr>
              <a:t>The provided Equation is j</a:t>
            </a:r>
            <a:r>
              <a:rPr lang="en-GB" altLang="en-DE" dirty="0">
                <a:solidFill>
                  <a:schemeClr val="bg1"/>
                </a:solidFill>
                <a:latin typeface="-webkit-standard"/>
              </a:rPr>
              <a:t>us</a:t>
            </a:r>
            <a:r>
              <a:rPr lang="en-DE" altLang="en-DE" dirty="0">
                <a:solidFill>
                  <a:schemeClr val="bg1"/>
                </a:solidFill>
                <a:latin typeface="-webkit-standard"/>
              </a:rPr>
              <a:t>t an approximation to the CHI Distribution Estimation. </a:t>
            </a:r>
            <a:endParaRPr lang="en-DE" altLang="en-DE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566F61-28D0-44E9-C6AF-B302CA3A31FE}"/>
              </a:ext>
            </a:extLst>
          </p:cNvPr>
          <p:cNvSpPr txBox="1"/>
          <p:nvPr/>
        </p:nvSpPr>
        <p:spPr>
          <a:xfrm>
            <a:off x="184731" y="953978"/>
            <a:ext cx="112241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DE" altLang="en-DE" dirty="0">
                <a:solidFill>
                  <a:schemeClr val="bg1"/>
                </a:solidFill>
                <a:latin typeface="-webkit-standard"/>
              </a:rPr>
              <a:t>Estimation accuracy of the Allan variance for a given τ, on the other hand, depends on the number of independent clusters within the data set.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DE" altLang="en-DE" dirty="0">
              <a:solidFill>
                <a:schemeClr val="bg1"/>
              </a:solidFill>
              <a:latin typeface="-webkit-standard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DE" altLang="en-DE" dirty="0">
                <a:solidFill>
                  <a:schemeClr val="bg1"/>
                </a:solidFill>
                <a:latin typeface="Arial" panose="020B0604020202020204" pitchFamily="34" charset="0"/>
              </a:rPr>
              <a:t>It can be shown that the percentage error, σ, in estimating σ(τ) when using clusters containing n data points from a data set of N points is given by: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DE" altLang="en-DE" dirty="0">
              <a:solidFill>
                <a:schemeClr val="bg1"/>
              </a:solidFill>
              <a:latin typeface="-webkit-standard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DE" altLang="en-DE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438695EA-6238-29A0-4D8A-0302BE306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45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DE" altLang="en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AD639A-A695-3153-8BCE-AAE7E448E06D}"/>
              </a:ext>
            </a:extLst>
          </p:cNvPr>
          <p:cNvSpPr txBox="1"/>
          <p:nvPr/>
        </p:nvSpPr>
        <p:spPr>
          <a:xfrm>
            <a:off x="184731" y="6383709"/>
            <a:ext cx="6151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80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 IEEE Std 952-1997 – Page 71  </a:t>
            </a:r>
            <a:endParaRPr lang="en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50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66792-9A61-D9DA-3374-EEBCC9351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58F2F-7CB3-ADB6-08D2-3CB3AC17B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1811"/>
            <a:ext cx="9144000" cy="1174377"/>
          </a:xfrm>
        </p:spPr>
        <p:txBody>
          <a:bodyPr>
            <a:normAutofit/>
          </a:bodyPr>
          <a:lstStyle/>
          <a:p>
            <a:pPr lvl="0"/>
            <a:r>
              <a:rPr lang="en-DE" dirty="0">
                <a:solidFill>
                  <a:schemeClr val="bg1"/>
                </a:solidFill>
              </a:rPr>
              <a:t>3. IMUs Errors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762AD1-DCDE-76E1-D2B1-C0EC70564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13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22442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B41D7-538C-A52D-97CF-108E8D999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6E1D2D-4A8B-5D1D-5BC5-82AE42F69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14</a:t>
            </a:fld>
            <a:endParaRPr lang="en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BDC6BC-0383-F749-E848-3E1854FFB6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69837" y="1618894"/>
            <a:ext cx="7264400" cy="3620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A0B456-5A78-3B4E-8013-573F8F4B1906}"/>
              </a:ext>
            </a:extLst>
          </p:cNvPr>
          <p:cNvSpPr txBox="1"/>
          <p:nvPr/>
        </p:nvSpPr>
        <p:spPr>
          <a:xfrm>
            <a:off x="508002" y="4197928"/>
            <a:ext cx="195349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White noise.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5DB73A-6425-C832-BF15-9DF8F5EDCC32}"/>
              </a:ext>
            </a:extLst>
          </p:cNvPr>
          <p:cNvCxnSpPr/>
          <p:nvPr/>
        </p:nvCxnSpPr>
        <p:spPr>
          <a:xfrm flipV="1">
            <a:off x="2466109" y="3768436"/>
            <a:ext cx="1634836" cy="651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E2C9580-8386-6CFC-DC9E-6D8FAC6CF64B}"/>
              </a:ext>
            </a:extLst>
          </p:cNvPr>
          <p:cNvSpPr txBox="1"/>
          <p:nvPr/>
        </p:nvSpPr>
        <p:spPr>
          <a:xfrm>
            <a:off x="658943" y="5521146"/>
            <a:ext cx="3221788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Does angle of random Walk need to be normalised ? </a:t>
            </a:r>
          </a:p>
          <a:p>
            <a:endParaRPr lang="en-DE" dirty="0">
              <a:solidFill>
                <a:schemeClr val="bg1"/>
              </a:solidFill>
            </a:endParaRPr>
          </a:p>
          <a:p>
            <a:r>
              <a:rPr lang="en-DE" dirty="0">
                <a:solidFill>
                  <a:schemeClr val="bg1"/>
                </a:solidFill>
              </a:rPr>
              <a:t>(Not Much)</a:t>
            </a:r>
          </a:p>
        </p:txBody>
      </p:sp>
    </p:spTree>
    <p:extLst>
      <p:ext uri="{BB962C8B-B14F-4D97-AF65-F5344CB8AC3E}">
        <p14:creationId xmlns:p14="http://schemas.microsoft.com/office/powerpoint/2010/main" val="185588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96964-C69F-1EB2-2A39-76B296F39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FA5B7-2483-49FA-D467-7F1D782A5523}"/>
              </a:ext>
            </a:extLst>
          </p:cNvPr>
          <p:cNvSpPr txBox="1">
            <a:spLocks/>
          </p:cNvSpPr>
          <p:nvPr/>
        </p:nvSpPr>
        <p:spPr>
          <a:xfrm>
            <a:off x="83669" y="104959"/>
            <a:ext cx="11704917" cy="7427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solidFill>
                  <a:schemeClr val="bg1"/>
                </a:solidFill>
              </a:rPr>
              <a:t>Quantisation Error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A8CD03-1469-1A5E-BD8C-54B26EF081B6}"/>
              </a:ext>
            </a:extLst>
          </p:cNvPr>
          <p:cNvSpPr txBox="1"/>
          <p:nvPr/>
        </p:nvSpPr>
        <p:spPr>
          <a:xfrm>
            <a:off x="395941" y="1385160"/>
            <a:ext cx="117049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Current  </a:t>
            </a:r>
            <a:r>
              <a:rPr lang="de-D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nowadays</a:t>
            </a:r>
            <a:r>
              <a:rPr lang="de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ADC </a:t>
            </a:r>
            <a:r>
              <a:rPr lang="de-D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are</a:t>
            </a:r>
            <a:r>
              <a:rPr lang="de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already</a:t>
            </a:r>
            <a:r>
              <a:rPr lang="de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big</a:t>
            </a:r>
            <a:r>
              <a:rPr lang="de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enough</a:t>
            </a:r>
            <a:r>
              <a:rPr lang="de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to</a:t>
            </a:r>
            <a:r>
              <a:rPr lang="de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reduce</a:t>
            </a:r>
            <a:r>
              <a:rPr lang="de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it</a:t>
            </a:r>
            <a:r>
              <a:rPr lang="de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very</a:t>
            </a:r>
            <a:r>
              <a:rPr lang="de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much</a:t>
            </a:r>
            <a:r>
              <a:rPr lang="de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. </a:t>
            </a:r>
            <a:r>
              <a:rPr lang="de-DE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To</a:t>
            </a:r>
            <a:r>
              <a:rPr lang="de-DE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the</a:t>
            </a:r>
            <a:r>
              <a:rPr lang="de-DE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point</a:t>
            </a:r>
            <a:r>
              <a:rPr lang="de-DE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that</a:t>
            </a:r>
            <a:r>
              <a:rPr lang="de-DE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it</a:t>
            </a:r>
            <a:r>
              <a:rPr lang="de-DE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won‘t</a:t>
            </a:r>
            <a:r>
              <a:rPr lang="de-DE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be</a:t>
            </a:r>
            <a:r>
              <a:rPr lang="de-DE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seen</a:t>
            </a:r>
            <a:r>
              <a:rPr lang="de-DE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much</a:t>
            </a:r>
            <a:r>
              <a:rPr lang="de-DE" dirty="0">
                <a:solidFill>
                  <a:schemeClr val="bg1"/>
                </a:solidFill>
                <a:latin typeface="Times New Roman" panose="02020603050405020304" pitchFamily="18" charset="0"/>
              </a:rPr>
              <a:t> on </a:t>
            </a:r>
            <a:r>
              <a:rPr lang="de-DE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the</a:t>
            </a:r>
            <a:r>
              <a:rPr lang="de-DE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graph</a:t>
            </a:r>
            <a:endParaRPr lang="de-DE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r>
              <a:rPr lang="de-D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It</a:t>
            </a:r>
            <a:r>
              <a:rPr lang="de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de-D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happens</a:t>
            </a:r>
            <a:r>
              <a:rPr lang="de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at </a:t>
            </a:r>
            <a:r>
              <a:rPr lang="de-D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slope</a:t>
            </a:r>
            <a:r>
              <a:rPr lang="de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-1 </a:t>
            </a:r>
          </a:p>
          <a:p>
            <a:r>
              <a:rPr lang="en-GB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I</a:t>
            </a:r>
            <a:r>
              <a:rPr lang="en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t is a determisnitic error!</a:t>
            </a:r>
          </a:p>
        </p:txBody>
      </p:sp>
    </p:spTree>
    <p:extLst>
      <p:ext uri="{BB962C8B-B14F-4D97-AF65-F5344CB8AC3E}">
        <p14:creationId xmlns:p14="http://schemas.microsoft.com/office/powerpoint/2010/main" val="2478671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A7F47-0677-F328-2D98-1AE091C45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61CEC0-C36C-D80B-2E77-EA7C1EB22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16</a:t>
            </a:fld>
            <a:endParaRPr lang="en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DF82E-90D6-C0B6-73BE-AAE99C4DD9B5}"/>
              </a:ext>
            </a:extLst>
          </p:cNvPr>
          <p:cNvSpPr txBox="1">
            <a:spLocks/>
          </p:cNvSpPr>
          <p:nvPr/>
        </p:nvSpPr>
        <p:spPr>
          <a:xfrm>
            <a:off x="83669" y="104959"/>
            <a:ext cx="11704917" cy="7427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solidFill>
                  <a:schemeClr val="bg1"/>
                </a:solidFill>
              </a:rPr>
              <a:t>ANGLE (VELOCITY) RANDOM WALK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1C811C-09B8-CAC0-B111-BC98ACAC52FA}"/>
              </a:ext>
            </a:extLst>
          </p:cNvPr>
          <p:cNvSpPr txBox="1"/>
          <p:nvPr/>
        </p:nvSpPr>
        <p:spPr>
          <a:xfrm>
            <a:off x="4956877" y="5657671"/>
            <a:ext cx="68317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</a:rPr>
              <a:t>The Equation indicates that a log-log plot of </a:t>
            </a:r>
            <a:r>
              <a:rPr lang="el-GR" dirty="0">
                <a:solidFill>
                  <a:schemeClr val="bg1"/>
                </a:solidFill>
                <a:latin typeface="Times New Roman" panose="02020603050405020304" pitchFamily="18" charset="0"/>
              </a:rPr>
              <a:t>σ(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</a:rPr>
              <a:t>T) versus T has a slope of –1/2. Furthermore, the numerical value of Q can be obtained directly by reading the slope line at T = 1.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1B42B0-0E20-3B37-98F7-64E3EB4D9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214" y="2527819"/>
            <a:ext cx="5692586" cy="29259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B37EF4-A83D-0718-082D-E74C3506E227}"/>
                  </a:ext>
                </a:extLst>
              </p:cNvPr>
              <p:cNvSpPr txBox="1"/>
              <p:nvPr/>
            </p:nvSpPr>
            <p:spPr>
              <a:xfrm>
                <a:off x="570463" y="2250820"/>
                <a:ext cx="11918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DE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0B37EF4-A83D-0718-082D-E74C3506E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63" y="2250820"/>
                <a:ext cx="1191865" cy="276999"/>
              </a:xfrm>
              <a:prstGeom prst="rect">
                <a:avLst/>
              </a:prstGeom>
              <a:blipFill>
                <a:blip r:embed="rId4"/>
                <a:stretch>
                  <a:fillRect l="-5319" t="-4348" r="-2128" b="-3043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A4918A56-956A-92AE-DA23-50C68D96B6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414" y="2852475"/>
            <a:ext cx="4962728" cy="23511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5746028-889D-1880-0810-7B5F0822DD3D}"/>
                  </a:ext>
                </a:extLst>
              </p:cNvPr>
              <p:cNvSpPr txBox="1"/>
              <p:nvPr/>
            </p:nvSpPr>
            <p:spPr>
              <a:xfrm>
                <a:off x="403414" y="5622997"/>
                <a:ext cx="120744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DE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5746028-889D-1880-0810-7B5F0822D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14" y="5622997"/>
                <a:ext cx="1207445" cy="553998"/>
              </a:xfrm>
              <a:prstGeom prst="rect">
                <a:avLst/>
              </a:prstGeom>
              <a:blipFill>
                <a:blip r:embed="rId6"/>
                <a:stretch>
                  <a:fillRect l="-2083" r="-2083" b="-1333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B6359E7-7655-D49B-C940-2273F73495B0}"/>
                  </a:ext>
                </a:extLst>
              </p:cNvPr>
              <p:cNvSpPr txBox="1"/>
              <p:nvPr/>
            </p:nvSpPr>
            <p:spPr>
              <a:xfrm>
                <a:off x="2326195" y="5622997"/>
                <a:ext cx="1117165" cy="572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DE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B6359E7-7655-D49B-C940-2273F7349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195" y="5622997"/>
                <a:ext cx="1117165" cy="572273"/>
              </a:xfrm>
              <a:prstGeom prst="rect">
                <a:avLst/>
              </a:prstGeom>
              <a:blipFill>
                <a:blip r:embed="rId7"/>
                <a:stretch>
                  <a:fillRect l="-3371" t="-6522" r="-3371" b="-869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1C6BE458-591B-97B1-E85B-7E29F1D3E92C}"/>
              </a:ext>
            </a:extLst>
          </p:cNvPr>
          <p:cNvSpPr txBox="1"/>
          <p:nvPr/>
        </p:nvSpPr>
        <p:spPr>
          <a:xfrm>
            <a:off x="395941" y="1385160"/>
            <a:ext cx="117049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White Noise</a:t>
            </a:r>
          </a:p>
          <a:p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</a:rPr>
              <a:t>if not </a:t>
            </a:r>
            <a:r>
              <a:rPr lang="en-GB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modeled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</a:rPr>
              <a:t> accurately, can be a major source of error that limits the performance of an attitude control system </a:t>
            </a:r>
          </a:p>
          <a:p>
            <a:endParaRPr lang="en-DE" dirty="0">
              <a:solidFill>
                <a:schemeClr val="bg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4C5F4FE-790D-258C-1D32-E4666681F98E}"/>
              </a:ext>
            </a:extLst>
          </p:cNvPr>
          <p:cNvSpPr/>
          <p:nvPr/>
        </p:nvSpPr>
        <p:spPr>
          <a:xfrm>
            <a:off x="6595353" y="3622155"/>
            <a:ext cx="350196" cy="6871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4D805D2-0C63-2723-3199-7BC30F2BD8C0}"/>
              </a:ext>
            </a:extLst>
          </p:cNvPr>
          <p:cNvSpPr/>
          <p:nvPr/>
        </p:nvSpPr>
        <p:spPr>
          <a:xfrm>
            <a:off x="8051262" y="4880043"/>
            <a:ext cx="350196" cy="6871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5416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4" grpId="0"/>
      <p:bldP spid="15" grpId="0"/>
      <p:bldP spid="16" grpId="0"/>
      <p:bldP spid="17" grpId="0" animBg="1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63FA8-DF9C-B10F-2B42-4BE5740B3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127C7-0C9A-2975-1505-4874DF24284F}"/>
              </a:ext>
            </a:extLst>
          </p:cNvPr>
          <p:cNvSpPr txBox="1">
            <a:spLocks/>
          </p:cNvSpPr>
          <p:nvPr/>
        </p:nvSpPr>
        <p:spPr>
          <a:xfrm>
            <a:off x="83669" y="104959"/>
            <a:ext cx="11704917" cy="7427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solidFill>
                  <a:schemeClr val="bg1"/>
                </a:solidFill>
              </a:rPr>
              <a:t>Bias instability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9A13A5-E8F7-A010-54D4-48B459B93314}"/>
              </a:ext>
            </a:extLst>
          </p:cNvPr>
          <p:cNvSpPr txBox="1"/>
          <p:nvPr/>
        </p:nvSpPr>
        <p:spPr>
          <a:xfrm>
            <a:off x="403414" y="1067205"/>
            <a:ext cx="11704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</a:rPr>
              <a:t>The origin of this noise is the electronics, or other components susceptible to random flickering (Keshner 1982).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A19E56-DD64-7F5D-AF63-35A0E4AF5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56019"/>
            <a:ext cx="5056275" cy="21183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695549-01FC-CA21-24C3-1B1A108E2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414" y="1922024"/>
            <a:ext cx="4787900" cy="990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DECC49-B7CC-107A-356A-6DF6521FF3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374" y="3595275"/>
            <a:ext cx="5604753" cy="2706373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D580CBB0-62DA-19CB-76D5-06D434E457B9}"/>
              </a:ext>
            </a:extLst>
          </p:cNvPr>
          <p:cNvSpPr/>
          <p:nvPr/>
        </p:nvSpPr>
        <p:spPr>
          <a:xfrm>
            <a:off x="4377447" y="3774332"/>
            <a:ext cx="1011676" cy="6871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239AAAB-CBA7-8C83-CD62-46111A36C0C6}"/>
              </a:ext>
            </a:extLst>
          </p:cNvPr>
          <p:cNvSpPr/>
          <p:nvPr/>
        </p:nvSpPr>
        <p:spPr>
          <a:xfrm>
            <a:off x="2428673" y="2027999"/>
            <a:ext cx="1011676" cy="6871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08754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0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80873-E642-4FCE-3F9D-3B1C0D57A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CA871-E347-054A-E589-6DE6F31CDFE4}"/>
              </a:ext>
            </a:extLst>
          </p:cNvPr>
          <p:cNvSpPr txBox="1">
            <a:spLocks/>
          </p:cNvSpPr>
          <p:nvPr/>
        </p:nvSpPr>
        <p:spPr>
          <a:xfrm>
            <a:off x="83669" y="104959"/>
            <a:ext cx="11704917" cy="7427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solidFill>
                  <a:schemeClr val="bg1"/>
                </a:solidFill>
              </a:rPr>
              <a:t>Rate of Random walk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5F1645-8194-FD84-6E4B-C284C29737C9}"/>
              </a:ext>
            </a:extLst>
          </p:cNvPr>
          <p:cNvSpPr txBox="1"/>
          <p:nvPr/>
        </p:nvSpPr>
        <p:spPr>
          <a:xfrm>
            <a:off x="403414" y="1067205"/>
            <a:ext cx="1170491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This is a random process of </a:t>
            </a:r>
            <a:r>
              <a:rPr lang="en-DE" sz="2000" b="1" dirty="0">
                <a:solidFill>
                  <a:schemeClr val="bg1"/>
                </a:solidFill>
              </a:rPr>
              <a:t>uncertain origin</a:t>
            </a:r>
            <a:r>
              <a:rPr lang="en-DE" dirty="0">
                <a:solidFill>
                  <a:schemeClr val="bg1"/>
                </a:solidFill>
              </a:rPr>
              <a:t>, possibly a limiting case of an exponentially correlated noise with a very long correlation time.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2B0D3B-6F5C-A5D2-BDF8-193AF392094A}"/>
                  </a:ext>
                </a:extLst>
              </p:cNvPr>
              <p:cNvSpPr txBox="1"/>
              <p:nvPr/>
            </p:nvSpPr>
            <p:spPr>
              <a:xfrm>
                <a:off x="5544766" y="2976664"/>
                <a:ext cx="67435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_{\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𝑂𝑚𝑒𝑔𝑎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}(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 = \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𝑙𝑒𝑓𝑡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(\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𝑓𝑟𝑎𝑐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}{2\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𝑝𝑖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}\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𝑟𝑖𝑔h𝑡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)^2 \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𝑓𝑟𝑎𝑐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{1}{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^2}</m:t>
                      </m:r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2B0D3B-6F5C-A5D2-BDF8-193AF3920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766" y="2976664"/>
                <a:ext cx="6743513" cy="276999"/>
              </a:xfrm>
              <a:prstGeom prst="rect">
                <a:avLst/>
              </a:prstGeom>
              <a:blipFill>
                <a:blip r:embed="rId3"/>
                <a:stretch>
                  <a:fillRect l="-376" t="-8696" r="-940" b="-3478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AA0497-A811-C052-7C1D-71C5098457A9}"/>
                  </a:ext>
                </a:extLst>
              </p:cNvPr>
              <p:cNvSpPr txBox="1"/>
              <p:nvPr/>
            </p:nvSpPr>
            <p:spPr>
              <a:xfrm>
                <a:off x="539601" y="2049570"/>
                <a:ext cx="1813702" cy="6218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num>
                                <m:den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AA0497-A811-C052-7C1D-71C509845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01" y="2049570"/>
                <a:ext cx="1813702" cy="621837"/>
              </a:xfrm>
              <a:prstGeom prst="rect">
                <a:avLst/>
              </a:prstGeom>
              <a:blipFill>
                <a:blip r:embed="rId4"/>
                <a:stretch>
                  <a:fillRect l="-2778" r="-694" b="-18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5EE93D-DAE8-526B-64B1-2AAC54B04D3C}"/>
                  </a:ext>
                </a:extLst>
              </p:cNvPr>
              <p:cNvSpPr txBox="1"/>
              <p:nvPr/>
            </p:nvSpPr>
            <p:spPr>
              <a:xfrm>
                <a:off x="539601" y="2944515"/>
                <a:ext cx="1362104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5EE93D-DAE8-526B-64B1-2AAC54B04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01" y="2944515"/>
                <a:ext cx="1362104" cy="555793"/>
              </a:xfrm>
              <a:prstGeom prst="rect">
                <a:avLst/>
              </a:prstGeom>
              <a:blipFill>
                <a:blip r:embed="rId5"/>
                <a:stretch>
                  <a:fillRect l="-1852" r="-3704" b="-1333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625A25-C5CC-CB6D-6246-84BCBD920DF4}"/>
                  </a:ext>
                </a:extLst>
              </p:cNvPr>
              <p:cNvSpPr txBox="1"/>
              <p:nvPr/>
            </p:nvSpPr>
            <p:spPr>
              <a:xfrm>
                <a:off x="539601" y="3773416"/>
                <a:ext cx="1311000" cy="8183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ad>
                        <m:radPr>
                          <m:degHide m:val="on"/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625A25-C5CC-CB6D-6246-84BCBD920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601" y="3773416"/>
                <a:ext cx="1311000" cy="818366"/>
              </a:xfrm>
              <a:prstGeom prst="rect">
                <a:avLst/>
              </a:prstGeom>
              <a:blipFill>
                <a:blip r:embed="rId6"/>
                <a:stretch>
                  <a:fillRect l="-1923" r="-384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FB44FB97-D9DB-F8B5-1802-EB5FA44834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2589" y="1730009"/>
            <a:ext cx="5656868" cy="33979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4D704-B628-E7B2-FD1C-7F940838C2B4}"/>
              </a:ext>
            </a:extLst>
          </p:cNvPr>
          <p:cNvSpPr txBox="1"/>
          <p:nvPr/>
        </p:nvSpPr>
        <p:spPr>
          <a:xfrm>
            <a:off x="4264791" y="5285275"/>
            <a:ext cx="6932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>
                <a:solidFill>
                  <a:srgbClr val="FF0000"/>
                </a:solidFill>
              </a:rPr>
              <a:t>The magnitude of this noise, </a:t>
            </a:r>
            <a:r>
              <a:rPr lang="en-DE" i="1" dirty="0">
                <a:solidFill>
                  <a:srgbClr val="FF0000"/>
                </a:solidFill>
              </a:rPr>
              <a:t>K</a:t>
            </a:r>
            <a:r>
              <a:rPr lang="en-DE" dirty="0">
                <a:solidFill>
                  <a:srgbClr val="FF0000"/>
                </a:solidFill>
              </a:rPr>
              <a:t> can be read off the slope line at </a:t>
            </a:r>
            <a:r>
              <a:rPr lang="en-DE" i="1" dirty="0">
                <a:solidFill>
                  <a:srgbClr val="FF0000"/>
                </a:solidFill>
              </a:rPr>
              <a:t>T = 3</a:t>
            </a:r>
            <a:r>
              <a:rPr lang="en-DE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ED5C5DF-0AB1-EA1E-A783-5DBCBC976EF2}"/>
              </a:ext>
            </a:extLst>
          </p:cNvPr>
          <p:cNvSpPr/>
          <p:nvPr/>
        </p:nvSpPr>
        <p:spPr>
          <a:xfrm>
            <a:off x="7509753" y="3925881"/>
            <a:ext cx="1011676" cy="6871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2CB5139-46C9-F5C0-A052-44DEE5F23771}"/>
              </a:ext>
            </a:extLst>
          </p:cNvPr>
          <p:cNvSpPr/>
          <p:nvPr/>
        </p:nvSpPr>
        <p:spPr>
          <a:xfrm>
            <a:off x="5544766" y="2741824"/>
            <a:ext cx="1011676" cy="6871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36098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5" grpId="0"/>
      <p:bldP spid="6" grpId="0"/>
      <p:bldP spid="11" grpId="0"/>
      <p:bldP spid="14" grpId="0"/>
      <p:bldP spid="15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BCCA1-2F15-1360-B0A3-23AF16257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EC3B-213E-1ED7-03ED-588DD7D25FE5}"/>
              </a:ext>
            </a:extLst>
          </p:cNvPr>
          <p:cNvSpPr txBox="1">
            <a:spLocks/>
          </p:cNvSpPr>
          <p:nvPr/>
        </p:nvSpPr>
        <p:spPr>
          <a:xfrm>
            <a:off x="83669" y="104959"/>
            <a:ext cx="11704917" cy="7427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solidFill>
                  <a:schemeClr val="bg1"/>
                </a:solidFill>
              </a:rPr>
              <a:t>Drift Rate Ramp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073C99-43CA-A6B4-BD04-6A253C125400}"/>
              </a:ext>
            </a:extLst>
          </p:cNvPr>
          <p:cNvSpPr txBox="1"/>
          <p:nvPr/>
        </p:nvSpPr>
        <p:spPr>
          <a:xfrm>
            <a:off x="403414" y="1067205"/>
            <a:ext cx="117049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It is a systematic and determisntic error ( - IEEE 952 1997)</a:t>
            </a:r>
          </a:p>
          <a:p>
            <a:r>
              <a:rPr lang="en-DE" dirty="0">
                <a:solidFill>
                  <a:schemeClr val="bg1"/>
                </a:solidFill>
              </a:rPr>
              <a:t>Slope of  +1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D5458F-523B-3C87-AEC9-D90A24E14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230" y="1701883"/>
            <a:ext cx="5346700" cy="27799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B16A12C-7FC3-3E6B-B1BE-963F7C547E82}"/>
                  </a:ext>
                </a:extLst>
              </p:cNvPr>
              <p:cNvSpPr txBox="1"/>
              <p:nvPr/>
            </p:nvSpPr>
            <p:spPr>
              <a:xfrm>
                <a:off x="619768" y="1951480"/>
                <a:ext cx="7774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RT</m:t>
                      </m:r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B16A12C-7FC3-3E6B-B1BE-963F7C547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68" y="1951480"/>
                <a:ext cx="777456" cy="276999"/>
              </a:xfrm>
              <a:prstGeom prst="rect">
                <a:avLst/>
              </a:prstGeom>
              <a:blipFill>
                <a:blip r:embed="rId4"/>
                <a:stretch>
                  <a:fillRect l="-6452" r="-8065" b="-869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64324DA6-8B25-F3E0-51E4-4FB249C257BA}"/>
              </a:ext>
            </a:extLst>
          </p:cNvPr>
          <p:cNvSpPr txBox="1"/>
          <p:nvPr/>
        </p:nvSpPr>
        <p:spPr>
          <a:xfrm>
            <a:off x="6994825" y="5156117"/>
            <a:ext cx="51400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>
                <a:solidFill>
                  <a:srgbClr val="FF0000"/>
                </a:solidFill>
              </a:rPr>
              <a:t>The amplitude of drift rate ramp </a:t>
            </a:r>
            <a:r>
              <a:rPr lang="en-DE" i="1" dirty="0">
                <a:solidFill>
                  <a:srgbClr val="FF0000"/>
                </a:solidFill>
              </a:rPr>
              <a:t>R</a:t>
            </a:r>
            <a:r>
              <a:rPr lang="en-DE" dirty="0">
                <a:solidFill>
                  <a:srgbClr val="FF0000"/>
                </a:solidFill>
              </a:rPr>
              <a:t> can be obtained</a:t>
            </a:r>
          </a:p>
          <a:p>
            <a:r>
              <a:rPr lang="en-DE" dirty="0">
                <a:solidFill>
                  <a:srgbClr val="FF0000"/>
                </a:solidFill>
              </a:rPr>
              <a:t>from the slope line at </a:t>
            </a:r>
            <a:r>
              <a:rPr lang="en-DE" i="1" dirty="0">
                <a:solidFill>
                  <a:srgbClr val="FF0000"/>
                </a:solidFill>
              </a:rPr>
              <a:t>T</a:t>
            </a:r>
            <a:r>
              <a:rPr lang="en-DE" dirty="0">
                <a:solidFill>
                  <a:srgbClr val="FF0000"/>
                </a:solidFill>
              </a:rPr>
              <a:t> = 2^(-0.5)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DD45DDB-2CF4-9E90-D60F-09726FE00D92}"/>
              </a:ext>
            </a:extLst>
          </p:cNvPr>
          <p:cNvSpPr/>
          <p:nvPr/>
        </p:nvSpPr>
        <p:spPr>
          <a:xfrm>
            <a:off x="6266202" y="2257339"/>
            <a:ext cx="1011676" cy="68717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72D8A9B-C1DD-155F-DB7A-D24FB6580FC7}"/>
              </a:ext>
            </a:extLst>
          </p:cNvPr>
          <p:cNvSpPr/>
          <p:nvPr/>
        </p:nvSpPr>
        <p:spPr>
          <a:xfrm>
            <a:off x="9105090" y="3773416"/>
            <a:ext cx="584634" cy="3907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F2AB32E-DEC0-CF07-D4EF-65ADCCC87CB0}"/>
                  </a:ext>
                </a:extLst>
              </p:cNvPr>
              <p:cNvSpPr txBox="1"/>
              <p:nvPr/>
            </p:nvSpPr>
            <p:spPr>
              <a:xfrm>
                <a:off x="619768" y="2423342"/>
                <a:ext cx="145700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DE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F2AB32E-DEC0-CF07-D4EF-65ADCCC87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68" y="2423342"/>
                <a:ext cx="1457002" cy="553998"/>
              </a:xfrm>
              <a:prstGeom prst="rect">
                <a:avLst/>
              </a:prstGeom>
              <a:blipFill>
                <a:blip r:embed="rId5"/>
                <a:stretch>
                  <a:fillRect l="-862" r="-862" b="-1363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30E6B48-FEAB-367B-CD35-EA69CD8E8A82}"/>
                  </a:ext>
                </a:extLst>
              </p:cNvPr>
              <p:cNvSpPr txBox="1"/>
              <p:nvPr/>
            </p:nvSpPr>
            <p:spPr>
              <a:xfrm>
                <a:off x="619768" y="3367065"/>
                <a:ext cx="1295163" cy="5704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DE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30E6B48-FEAB-367B-CD35-EA69CD8E8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68" y="3367065"/>
                <a:ext cx="1295163" cy="570413"/>
              </a:xfrm>
              <a:prstGeom prst="rect">
                <a:avLst/>
              </a:prstGeom>
              <a:blipFill>
                <a:blip r:embed="rId6"/>
                <a:stretch>
                  <a:fillRect l="-971" r="-3883" b="-85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877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1" grpId="0"/>
      <p:bldP spid="22" grpId="0" animBg="1"/>
      <p:bldP spid="23" grpId="0" animBg="1"/>
      <p:bldP spid="24" grpId="0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DF8AC-5C70-148E-DCF3-676CCEA5D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C57C7-E6C7-5054-5EC5-97665646445C}"/>
              </a:ext>
            </a:extLst>
          </p:cNvPr>
          <p:cNvSpPr txBox="1">
            <a:spLocks/>
          </p:cNvSpPr>
          <p:nvPr/>
        </p:nvSpPr>
        <p:spPr>
          <a:xfrm>
            <a:off x="83669" y="104959"/>
            <a:ext cx="11704917" cy="7427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3600" dirty="0">
                <a:solidFill>
                  <a:schemeClr val="bg1"/>
                </a:solidFill>
              </a:rPr>
              <a:t>Total Noise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AEB70D0-C7F9-1F28-43BA-A732BB232402}"/>
                  </a:ext>
                </a:extLst>
              </p:cNvPr>
              <p:cNvSpPr txBox="1"/>
              <p:nvPr/>
            </p:nvSpPr>
            <p:spPr>
              <a:xfrm>
                <a:off x="1936015" y="2937712"/>
                <a:ext cx="8319970" cy="4912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  <m:sup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𝑞𝑢𝑎𝑛𝑡</m:t>
                          </m:r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𝐴𝑅𝑊</m:t>
                          </m:r>
                        </m:sub>
                        <m:sup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𝑏𝑖𝑎𝑠𝐼𝑛𝑠𝑡</m:t>
                          </m:r>
                        </m:sub>
                        <m:sup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𝑠𝑖𝑛</m:t>
                          </m:r>
                        </m:sub>
                        <m:sup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𝑅𝑅𝑊</m:t>
                          </m:r>
                        </m:sub>
                        <m:sup>
                          <m:r>
                            <a:rPr lang="en-GB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GB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DE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AEB70D0-C7F9-1F28-43BA-A732BB232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015" y="2937712"/>
                <a:ext cx="8319970" cy="491288"/>
              </a:xfrm>
              <a:prstGeom prst="rect">
                <a:avLst/>
              </a:prstGeom>
              <a:blipFill>
                <a:blip r:embed="rId3"/>
                <a:stretch>
                  <a:fillRect l="-152" b="-175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114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1EEAF-FA22-DB9D-142B-A6BD65D4E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885C52-B988-645C-6A11-3DFD79E6F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21</a:t>
            </a:fld>
            <a:endParaRPr lang="en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B1A317-D39B-CA86-7920-DBDD3EBE6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249" y="688705"/>
            <a:ext cx="6535501" cy="603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106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4E0C6-D1AA-3FC2-9F4B-1D405A95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EBFAB-E439-D202-FD30-EA5A403B1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1811"/>
            <a:ext cx="9144000" cy="1174377"/>
          </a:xfrm>
        </p:spPr>
        <p:txBody>
          <a:bodyPr>
            <a:normAutofit/>
          </a:bodyPr>
          <a:lstStyle/>
          <a:p>
            <a:pPr lvl="0"/>
            <a:r>
              <a:rPr lang="en-DE" dirty="0">
                <a:solidFill>
                  <a:schemeClr val="bg1"/>
                </a:solidFill>
              </a:rPr>
              <a:t>4. SW Architecture 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557804-DBB7-D7E5-6F1E-C33CA3A6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22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45059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998A1-6778-01D1-FD02-C0A34F8D4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66980F-F90D-90EA-1CFA-9C7E23CFB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23</a:t>
            </a:fld>
            <a:endParaRPr lang="en-DE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08221B-590C-66B2-F378-A24C62912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064" y="960967"/>
            <a:ext cx="5299339" cy="524587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DA9F962-26CC-5AA9-B644-7608D9351A4B}"/>
              </a:ext>
            </a:extLst>
          </p:cNvPr>
          <p:cNvSpPr txBox="1">
            <a:spLocks/>
          </p:cNvSpPr>
          <p:nvPr/>
        </p:nvSpPr>
        <p:spPr>
          <a:xfrm>
            <a:off x="83669" y="104959"/>
            <a:ext cx="11704917" cy="7427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DE" sz="3600" dirty="0">
                <a:solidFill>
                  <a:schemeClr val="bg1"/>
                </a:solidFill>
              </a:rPr>
              <a:t>Allan Variance Sampling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316132-E402-6BA9-D235-20B9368A6DBC}"/>
                  </a:ext>
                </a:extLst>
              </p:cNvPr>
              <p:cNvSpPr txBox="1"/>
              <p:nvPr/>
            </p:nvSpPr>
            <p:spPr>
              <a:xfrm>
                <a:off x="484597" y="1154486"/>
                <a:ext cx="1670009" cy="8649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GB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de-DE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den>
                                  </m:f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316132-E402-6BA9-D235-20B9368A6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97" y="1154486"/>
                <a:ext cx="1670009" cy="864980"/>
              </a:xfrm>
              <a:prstGeom prst="rect">
                <a:avLst/>
              </a:prstGeom>
              <a:blipFill>
                <a:blip r:embed="rId4"/>
                <a:stretch>
                  <a:fillRect t="-289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F180C0C-6485-2384-1051-46BB88F8820A}"/>
              </a:ext>
            </a:extLst>
          </p:cNvPr>
          <p:cNvSpPr txBox="1"/>
          <p:nvPr/>
        </p:nvSpPr>
        <p:spPr>
          <a:xfrm>
            <a:off x="235859" y="2326229"/>
            <a:ext cx="5700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altLang="en-DE" dirty="0">
                <a:solidFill>
                  <a:schemeClr val="bg1"/>
                </a:solidFill>
                <a:latin typeface="-webkit-standard"/>
              </a:rPr>
              <a:t>We should run our logger at the highest meaningful frequency to maximise N and therefore increase the number of independent clusters at each τ.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2D266D-09DD-C3ED-618E-55CA94DFD233}"/>
              </a:ext>
            </a:extLst>
          </p:cNvPr>
          <p:cNvSpPr txBox="1"/>
          <p:nvPr/>
        </p:nvSpPr>
        <p:spPr>
          <a:xfrm>
            <a:off x="235859" y="3429000"/>
            <a:ext cx="5700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solidFill>
                  <a:schemeClr val="bg1"/>
                </a:solidFill>
              </a:rPr>
              <a:t>The study from </a:t>
            </a:r>
            <a:r>
              <a:rPr lang="en-DE" u="sng" dirty="0">
                <a:hlinkClick r:id="rId5"/>
              </a:rPr>
              <a:t>ucalgary.</a:t>
            </a:r>
            <a:r>
              <a:rPr lang="en-DE" u="sng" dirty="0"/>
              <a:t> </a:t>
            </a:r>
            <a:r>
              <a:rPr lang="en-DE" dirty="0">
                <a:solidFill>
                  <a:schemeClr val="bg1"/>
                </a:solidFill>
              </a:rPr>
              <a:t>Shoes the higher t</a:t>
            </a:r>
            <a:r>
              <a:rPr lang="en-GB" dirty="0">
                <a:solidFill>
                  <a:schemeClr val="bg1"/>
                </a:solidFill>
              </a:rPr>
              <a:t>he</a:t>
            </a:r>
            <a:r>
              <a:rPr lang="en-DE" dirty="0">
                <a:solidFill>
                  <a:schemeClr val="bg1"/>
                </a:solidFill>
              </a:rPr>
              <a:t> samling rate the better the convergance is  for several runs</a:t>
            </a:r>
            <a:endParaRPr lang="en-DE" altLang="en-DE" dirty="0">
              <a:solidFill>
                <a:schemeClr val="bg1"/>
              </a:solidFill>
              <a:latin typeface="-webkit-standar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CC05AB-E613-8FB6-DB51-9C2142FF32CB}"/>
              </a:ext>
            </a:extLst>
          </p:cNvPr>
          <p:cNvSpPr txBox="1"/>
          <p:nvPr/>
        </p:nvSpPr>
        <p:spPr>
          <a:xfrm>
            <a:off x="235859" y="4531771"/>
            <a:ext cx="57002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solidFill>
                  <a:schemeClr val="bg1"/>
                </a:solidFill>
              </a:rPr>
              <a:t>However as we can see here, at some point, we will start to enter the attenuation region of the gistial filter. </a:t>
            </a:r>
            <a:r>
              <a:rPr lang="en-GB" dirty="0">
                <a:solidFill>
                  <a:schemeClr val="bg1"/>
                </a:solidFill>
              </a:rPr>
              <a:t>I</a:t>
            </a:r>
            <a:r>
              <a:rPr lang="en-DE" dirty="0">
                <a:solidFill>
                  <a:schemeClr val="bg1"/>
                </a:solidFill>
              </a:rPr>
              <a:t>n the paper this happens at window size of  0.015 sec. which coresponds around 30 HZ cut of freq. which fits the actual BW of t</a:t>
            </a:r>
            <a:r>
              <a:rPr lang="en-GB" dirty="0">
                <a:solidFill>
                  <a:schemeClr val="bg1"/>
                </a:solidFill>
              </a:rPr>
              <a:t>he</a:t>
            </a:r>
            <a:r>
              <a:rPr lang="en-DE" dirty="0">
                <a:solidFill>
                  <a:schemeClr val="bg1"/>
                </a:solidFill>
              </a:rPr>
              <a:t> sensor. </a:t>
            </a:r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59E8C2-4EC1-752C-EE62-4F361A018591}"/>
                  </a:ext>
                </a:extLst>
              </p:cNvPr>
              <p:cNvSpPr txBox="1"/>
              <p:nvPr/>
            </p:nvSpPr>
            <p:spPr>
              <a:xfrm>
                <a:off x="954110" y="6096118"/>
                <a:ext cx="2997872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0.443</m:t>
                          </m:r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0.443</m:t>
                          </m:r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0.0</m:t>
                          </m:r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29.5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Hz</m:t>
                      </m:r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D59E8C2-4EC1-752C-EE62-4F361A018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110" y="6096118"/>
                <a:ext cx="2997872" cy="520463"/>
              </a:xfrm>
              <a:prstGeom prst="rect">
                <a:avLst/>
              </a:prstGeom>
              <a:blipFill>
                <a:blip r:embed="rId6"/>
                <a:stretch>
                  <a:fillRect l="-2532" t="-4878" r="-1266" b="-1463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999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78DDA-A9DA-E70E-CBEB-1B3130550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F42F09-6A8E-D15A-933B-3FF96B0D7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24</a:t>
            </a:fld>
            <a:endParaRPr lang="en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72416D-EA2E-B8B1-7410-7C8FBCF82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45" y="2791680"/>
            <a:ext cx="5135790" cy="375704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8DC96CE-E010-1F7A-F11E-BA676E737B59}"/>
              </a:ext>
            </a:extLst>
          </p:cNvPr>
          <p:cNvSpPr txBox="1">
            <a:spLocks/>
          </p:cNvSpPr>
          <p:nvPr/>
        </p:nvSpPr>
        <p:spPr>
          <a:xfrm>
            <a:off x="83669" y="104959"/>
            <a:ext cx="11704917" cy="7427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DE" sz="3600" dirty="0">
                <a:solidFill>
                  <a:schemeClr val="bg1"/>
                </a:solidFill>
              </a:rPr>
              <a:t>Allan Variance Acc X with DLPF of 5.7  Hz, 8.3  NBW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50D38D-BAD2-ADA7-A95D-90D6277CC3F1}"/>
                  </a:ext>
                </a:extLst>
              </p:cNvPr>
              <p:cNvSpPr txBox="1"/>
              <p:nvPr/>
            </p:nvSpPr>
            <p:spPr>
              <a:xfrm>
                <a:off x="445645" y="1124045"/>
                <a:ext cx="2487348" cy="5318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rect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m:rPr>
                                  <m:lit/>
                                </m:r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50D38D-BAD2-ADA7-A95D-90D6277CC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45" y="1124045"/>
                <a:ext cx="2487348" cy="531877"/>
              </a:xfrm>
              <a:prstGeom prst="rect">
                <a:avLst/>
              </a:prstGeom>
              <a:blipFill>
                <a:blip r:embed="rId4"/>
                <a:stretch>
                  <a:fillRect l="-2041" t="-4651" b="-1162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421D184-0AA3-EAB7-877F-6A3AD2A4DEAB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932993" y="1389983"/>
            <a:ext cx="112385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1E075E-2145-8EB6-D4A7-FA0CD4521B40}"/>
                  </a:ext>
                </a:extLst>
              </p:cNvPr>
              <p:cNvSpPr txBox="1"/>
              <p:nvPr/>
            </p:nvSpPr>
            <p:spPr>
              <a:xfrm>
                <a:off x="4060956" y="1081853"/>
                <a:ext cx="2035044" cy="6162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𝑓𝑇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1E075E-2145-8EB6-D4A7-FA0CD4521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956" y="1081853"/>
                <a:ext cx="2035044" cy="616259"/>
              </a:xfrm>
              <a:prstGeom prst="rect">
                <a:avLst/>
              </a:prstGeom>
              <a:blipFill>
                <a:blip r:embed="rId5"/>
                <a:stretch>
                  <a:fillRect b="-14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E4D1830-482E-F380-C5C9-64E0593F0F81}"/>
                  </a:ext>
                </a:extLst>
              </p:cNvPr>
              <p:cNvSpPr txBox="1"/>
              <p:nvPr/>
            </p:nvSpPr>
            <p:spPr>
              <a:xfrm>
                <a:off x="463457" y="1837479"/>
                <a:ext cx="1728485" cy="6162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b>
                                        <m:sSubPr>
                                          <m:ctrlPr>
                                            <a:rPr lang="en-GB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  <m:r>
                                        <a:rPr lang="en-GB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E4D1830-482E-F380-C5C9-64E0593F0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457" y="1837479"/>
                <a:ext cx="1728485" cy="616259"/>
              </a:xfrm>
              <a:prstGeom prst="rect">
                <a:avLst/>
              </a:prstGeom>
              <a:blipFill>
                <a:blip r:embed="rId6"/>
                <a:stretch>
                  <a:fillRect t="-2000" r="-2920" b="-12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117D4E4-0ECC-BA4E-809B-1F6FFD1C1024}"/>
              </a:ext>
            </a:extLst>
          </p:cNvPr>
          <p:cNvCxnSpPr>
            <a:cxnSpLocks/>
          </p:cNvCxnSpPr>
          <p:nvPr/>
        </p:nvCxnSpPr>
        <p:spPr>
          <a:xfrm flipV="1">
            <a:off x="2427327" y="2187798"/>
            <a:ext cx="112385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F530E-31CB-5CE7-E4FB-7EC66B2F7A40}"/>
                  </a:ext>
                </a:extLst>
              </p:cNvPr>
              <p:cNvSpPr txBox="1"/>
              <p:nvPr/>
            </p:nvSpPr>
            <p:spPr>
              <a:xfrm>
                <a:off x="3786564" y="1980140"/>
                <a:ext cx="3068404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1.3916</m:t>
                          </m:r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0.4429</m:t>
                          </m:r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0.443</m:t>
                          </m:r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A1F530E-31CB-5CE7-E4FB-7EC66B2F7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6564" y="1980140"/>
                <a:ext cx="3068404" cy="520463"/>
              </a:xfrm>
              <a:prstGeom prst="rect">
                <a:avLst/>
              </a:prstGeom>
              <a:blipFill>
                <a:blip r:embed="rId7"/>
                <a:stretch>
                  <a:fillRect l="-2479" t="-7317" r="-1653" b="-1463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15DDBFD-ACC3-D72E-16E7-6564579AE697}"/>
                  </a:ext>
                </a:extLst>
              </p:cNvPr>
              <p:cNvSpPr txBox="1"/>
              <p:nvPr/>
            </p:nvSpPr>
            <p:spPr>
              <a:xfrm>
                <a:off x="8355928" y="1933275"/>
                <a:ext cx="2997872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0.443</m:t>
                          </m:r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0.443</m:t>
                          </m:r>
                        </m:num>
                        <m:den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0.0</m:t>
                          </m:r>
                          <m:r>
                            <a:rPr lang="de-DE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de-DE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6.32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Hz</m:t>
                      </m:r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15DDBFD-ACC3-D72E-16E7-6564579AE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5928" y="1933275"/>
                <a:ext cx="2997872" cy="520399"/>
              </a:xfrm>
              <a:prstGeom prst="rect">
                <a:avLst/>
              </a:prstGeom>
              <a:blipFill>
                <a:blip r:embed="rId8"/>
                <a:stretch>
                  <a:fillRect l="-2532" t="-4762" r="-1266" b="-1190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2FA7312-E077-7660-D68F-02CA74A5156C}"/>
              </a:ext>
            </a:extLst>
          </p:cNvPr>
          <p:cNvCxnSpPr>
            <a:cxnSpLocks/>
          </p:cNvCxnSpPr>
          <p:nvPr/>
        </p:nvCxnSpPr>
        <p:spPr>
          <a:xfrm>
            <a:off x="7279972" y="2216754"/>
            <a:ext cx="8723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3E4CC4F-9BB2-1D87-B58D-1C8915958239}"/>
              </a:ext>
            </a:extLst>
          </p:cNvPr>
          <p:cNvSpPr txBox="1"/>
          <p:nvPr/>
        </p:nvSpPr>
        <p:spPr>
          <a:xfrm>
            <a:off x="6088318" y="2730706"/>
            <a:ext cx="57002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>
                <a:solidFill>
                  <a:schemeClr val="bg1"/>
                </a:solidFill>
              </a:rPr>
              <a:t>The Morale is, we need to get  determine first the Filter Bandwidth, to determine the sampling Freq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0C212E0-CFC9-EEA6-193F-5533E21691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0720" y="2791680"/>
            <a:ext cx="5255463" cy="357871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9385732-177D-F341-8506-555FDDD9D05C}"/>
              </a:ext>
            </a:extLst>
          </p:cNvPr>
          <p:cNvSpPr txBox="1"/>
          <p:nvPr/>
        </p:nvSpPr>
        <p:spPr>
          <a:xfrm>
            <a:off x="2427327" y="3043829"/>
            <a:ext cx="1056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>
                <a:solidFill>
                  <a:srgbClr val="FF0000"/>
                </a:solidFill>
              </a:rPr>
              <a:t>Mit filtering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C512DE-659B-38F2-CDC9-16F85A474504}"/>
              </a:ext>
            </a:extLst>
          </p:cNvPr>
          <p:cNvSpPr txBox="1"/>
          <p:nvPr/>
        </p:nvSpPr>
        <p:spPr>
          <a:xfrm>
            <a:off x="8152328" y="3310819"/>
            <a:ext cx="1056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>
                <a:solidFill>
                  <a:srgbClr val="FF0000"/>
                </a:solidFill>
              </a:rPr>
              <a:t>Ohne filtering </a:t>
            </a:r>
          </a:p>
        </p:txBody>
      </p:sp>
    </p:spTree>
    <p:extLst>
      <p:ext uri="{BB962C8B-B14F-4D97-AF65-F5344CB8AC3E}">
        <p14:creationId xmlns:p14="http://schemas.microsoft.com/office/powerpoint/2010/main" val="115489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4" grpId="0"/>
      <p:bldP spid="16" grpId="0"/>
      <p:bldP spid="17" grpId="0"/>
      <p:bldP spid="21" grpId="0"/>
      <p:bldP spid="23" grpId="0"/>
      <p:bldP spid="2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43483-BA77-80CF-9F98-1B8DB5BB0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081227-FFD1-B02F-BD70-B593755A0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25</a:t>
            </a:fld>
            <a:endParaRPr lang="en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FCD0B0F-E7F3-FCD8-E0AC-5CBF9BFFD3B6}"/>
              </a:ext>
            </a:extLst>
          </p:cNvPr>
          <p:cNvSpPr txBox="1">
            <a:spLocks/>
          </p:cNvSpPr>
          <p:nvPr/>
        </p:nvSpPr>
        <p:spPr>
          <a:xfrm>
            <a:off x="83669" y="104959"/>
            <a:ext cx="11704917" cy="7427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DE" sz="3600">
                <a:solidFill>
                  <a:schemeClr val="bg1"/>
                </a:solidFill>
              </a:rPr>
              <a:t>Allan Variance Filters BandWidth</a:t>
            </a:r>
            <a:endParaRPr lang="en-DE" sz="3600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9554DB-C7B4-759E-958F-2E3A3AFCC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22481"/>
              </p:ext>
            </p:extLst>
          </p:nvPr>
        </p:nvGraphicFramePr>
        <p:xfrm>
          <a:off x="3739611" y="1825625"/>
          <a:ext cx="4712778" cy="4351338"/>
        </p:xfrm>
        <a:graphic>
          <a:graphicData uri="http://schemas.openxmlformats.org/drawingml/2006/table">
            <a:tbl>
              <a:tblPr/>
              <a:tblGrid>
                <a:gridCol w="966964">
                  <a:extLst>
                    <a:ext uri="{9D8B030D-6E8A-4147-A177-3AD203B41FA5}">
                      <a16:colId xmlns:a16="http://schemas.microsoft.com/office/drawing/2014/main" val="1591447600"/>
                    </a:ext>
                  </a:extLst>
                </a:gridCol>
                <a:gridCol w="1722404">
                  <a:extLst>
                    <a:ext uri="{9D8B030D-6E8A-4147-A177-3AD203B41FA5}">
                      <a16:colId xmlns:a16="http://schemas.microsoft.com/office/drawing/2014/main" val="1660962682"/>
                    </a:ext>
                  </a:extLst>
                </a:gridCol>
                <a:gridCol w="1722404">
                  <a:extLst>
                    <a:ext uri="{9D8B030D-6E8A-4147-A177-3AD203B41FA5}">
                      <a16:colId xmlns:a16="http://schemas.microsoft.com/office/drawing/2014/main" val="4160221929"/>
                    </a:ext>
                  </a:extLst>
                </a:gridCol>
                <a:gridCol w="301006">
                  <a:extLst>
                    <a:ext uri="{9D8B030D-6E8A-4147-A177-3AD203B41FA5}">
                      <a16:colId xmlns:a16="http://schemas.microsoft.com/office/drawing/2014/main" val="3253756895"/>
                    </a:ext>
                  </a:extLst>
                </a:gridCol>
              </a:tblGrid>
              <a:tr h="2030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>
                          <a:effectLst/>
                        </a:rPr>
                        <a:t>Filter Type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>
                          <a:effectLst/>
                        </a:rPr>
                        <a:t>DLPF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>
                          <a:effectLst/>
                        </a:rPr>
                        <a:t>DLPF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/>
                        <a:t>Kalman Filter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310347"/>
                  </a:ext>
                </a:extLst>
              </a:tr>
              <a:tr h="1160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>
                          <a:effectLst/>
                        </a:rPr>
                        <a:t>Accel’s Filter BandWidth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>
                          <a:effectLst/>
                        </a:rPr>
                        <a:t>260 Hz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>
                          <a:effectLst/>
                        </a:rPr>
                        <a:t>DLPF 3dB @ 246 Hz (NBW 265 Hz),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/>
                        <a:t>256 Hz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398149"/>
                  </a:ext>
                </a:extLst>
              </a:tr>
              <a:tr h="1160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>
                          <a:effectLst/>
                        </a:rPr>
                        <a:t>Gyro’s Filter BandWidth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>
                          <a:effectLst/>
                        </a:rPr>
                        <a:t>256 Hz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>
                          <a:effectLst/>
                        </a:rPr>
                        <a:t>3dB @ 196.6 Hz (NBW 229.8 Hz)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/>
                        <a:t>256 Hz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614529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49D4999-7CFB-62D6-BF40-D5084D9242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935373"/>
              </p:ext>
            </p:extLst>
          </p:nvPr>
        </p:nvGraphicFramePr>
        <p:xfrm>
          <a:off x="1475874" y="1825625"/>
          <a:ext cx="8758988" cy="3708900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2189747">
                  <a:extLst>
                    <a:ext uri="{9D8B030D-6E8A-4147-A177-3AD203B41FA5}">
                      <a16:colId xmlns:a16="http://schemas.microsoft.com/office/drawing/2014/main" val="2910171069"/>
                    </a:ext>
                  </a:extLst>
                </a:gridCol>
                <a:gridCol w="2189747">
                  <a:extLst>
                    <a:ext uri="{9D8B030D-6E8A-4147-A177-3AD203B41FA5}">
                      <a16:colId xmlns:a16="http://schemas.microsoft.com/office/drawing/2014/main" val="1823285624"/>
                    </a:ext>
                  </a:extLst>
                </a:gridCol>
                <a:gridCol w="2189747">
                  <a:extLst>
                    <a:ext uri="{9D8B030D-6E8A-4147-A177-3AD203B41FA5}">
                      <a16:colId xmlns:a16="http://schemas.microsoft.com/office/drawing/2014/main" val="4077878429"/>
                    </a:ext>
                  </a:extLst>
                </a:gridCol>
                <a:gridCol w="2189747">
                  <a:extLst>
                    <a:ext uri="{9D8B030D-6E8A-4147-A177-3AD203B41FA5}">
                      <a16:colId xmlns:a16="http://schemas.microsoft.com/office/drawing/2014/main" val="3771974814"/>
                    </a:ext>
                  </a:extLst>
                </a:gridCol>
              </a:tblGrid>
              <a:tr h="927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>
                          <a:effectLst/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effectLst/>
                        </a:rPr>
                        <a:t>MPU6050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effectLst/>
                        </a:rPr>
                        <a:t>ICM20948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WIT901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5023396"/>
                  </a:ext>
                </a:extLst>
              </a:tr>
              <a:tr h="927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>
                          <a:effectLst/>
                        </a:rPr>
                        <a:t>Filter Type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>
                          <a:effectLst/>
                        </a:rPr>
                        <a:t>DLPF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>
                          <a:effectLst/>
                        </a:rPr>
                        <a:t>DLPF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/>
                        <a:t>Kalman Filter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696674103"/>
                  </a:ext>
                </a:extLst>
              </a:tr>
              <a:tr h="927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>
                          <a:effectLst/>
                        </a:rPr>
                        <a:t>Accel’s Filter BandWidth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>
                          <a:effectLst/>
                        </a:rPr>
                        <a:t>260 Hz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>
                          <a:effectLst/>
                        </a:rPr>
                        <a:t>DLPF 3dB @ 246 Hz (NBW 265 Hz),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/>
                        <a:t>256 Hz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679130878"/>
                  </a:ext>
                </a:extLst>
              </a:tr>
              <a:tr h="927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>
                          <a:effectLst/>
                        </a:rPr>
                        <a:t>Gyro’s Filter BandWidth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>
                          <a:effectLst/>
                        </a:rPr>
                        <a:t>256 Hz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>
                          <a:effectLst/>
                        </a:rPr>
                        <a:t>3dB @ 196.6 Hz (NBW 229.8 Hz)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1400" dirty="0"/>
                        <a:t>256 Hz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713977130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4E42C99-4D01-A613-4C88-70F250E27705}"/>
              </a:ext>
            </a:extLst>
          </p:cNvPr>
          <p:cNvSpPr txBox="1"/>
          <p:nvPr/>
        </p:nvSpPr>
        <p:spPr>
          <a:xfrm>
            <a:off x="1475874" y="5671078"/>
            <a:ext cx="117049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All of them as Close as possible to each other. </a:t>
            </a:r>
            <a:br>
              <a:rPr lang="en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</a:br>
            <a:r>
              <a:rPr lang="en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The best solution is to turn the filters off, but  for WT901 </a:t>
            </a:r>
            <a:r>
              <a:rPr lang="en-GB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A</a:t>
            </a:r>
            <a:r>
              <a:rPr lang="en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nd MPU Filters can not be bypassed</a:t>
            </a:r>
          </a:p>
        </p:txBody>
      </p:sp>
    </p:spTree>
    <p:extLst>
      <p:ext uri="{BB962C8B-B14F-4D97-AF65-F5344CB8AC3E}">
        <p14:creationId xmlns:p14="http://schemas.microsoft.com/office/powerpoint/2010/main" val="98975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60DB1-0A0A-6E10-31FA-0A7A3F895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D21FA0-D1F9-531C-CF65-1F1AF5559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26</a:t>
            </a:fld>
            <a:endParaRPr lang="en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480423-5C1F-951A-E23E-C98567C6DD85}"/>
              </a:ext>
            </a:extLst>
          </p:cNvPr>
          <p:cNvSpPr txBox="1">
            <a:spLocks/>
          </p:cNvSpPr>
          <p:nvPr/>
        </p:nvSpPr>
        <p:spPr>
          <a:xfrm>
            <a:off x="83669" y="104959"/>
            <a:ext cx="11704917" cy="7427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DE" sz="3600" dirty="0">
                <a:solidFill>
                  <a:schemeClr val="bg1"/>
                </a:solidFill>
              </a:rPr>
              <a:t>Allan Variance Sampling Freq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50A125-5E0E-992E-39F0-3D25141D8E49}"/>
              </a:ext>
            </a:extLst>
          </p:cNvPr>
          <p:cNvSpPr txBox="1"/>
          <p:nvPr/>
        </p:nvSpPr>
        <p:spPr>
          <a:xfrm>
            <a:off x="243541" y="1232760"/>
            <a:ext cx="117049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The sampling rate should reach three to five times the bandwidth to meet the requirement for reliable sensor performance analysis, which also meets the requirement of Nyquist theorem. </a:t>
            </a:r>
            <a:r>
              <a:rPr lang="en-DE" u="sng" dirty="0">
                <a:hlinkClick r:id="rId3"/>
              </a:rPr>
              <a:t>ucalgary.</a:t>
            </a:r>
            <a:endParaRPr lang="en-DE" dirty="0">
              <a:solidFill>
                <a:schemeClr val="bg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D2CFC-3900-9A0D-2A3D-569776485ED6}"/>
              </a:ext>
            </a:extLst>
          </p:cNvPr>
          <p:cNvSpPr txBox="1"/>
          <p:nvPr/>
        </p:nvSpPr>
        <p:spPr>
          <a:xfrm>
            <a:off x="243540" y="2116856"/>
            <a:ext cx="11704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So, The Best </a:t>
            </a:r>
            <a:r>
              <a:rPr lang="en-DE" dirty="0">
                <a:solidFill>
                  <a:schemeClr val="bg1"/>
                </a:solidFill>
                <a:latin typeface="Times New Roman" panose="02020603050405020304" pitchFamily="18" charset="0"/>
              </a:rPr>
              <a:t>sampling Frequancy in our situation is between  3* 256  Hz to 5  * 256 Hz </a:t>
            </a:r>
            <a:endParaRPr lang="en-DE" dirty="0">
              <a:solidFill>
                <a:schemeClr val="bg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CC109D-6F50-62F9-747C-18ED4DD20A97}"/>
              </a:ext>
            </a:extLst>
          </p:cNvPr>
          <p:cNvSpPr txBox="1"/>
          <p:nvPr/>
        </p:nvSpPr>
        <p:spPr>
          <a:xfrm>
            <a:off x="243539" y="2539287"/>
            <a:ext cx="11704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Due to the limitation of the Computational power of the MC, we decided to go with 1 kHz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A4746-380A-CEA1-0D67-8F1E8F0D7546}"/>
              </a:ext>
            </a:extLst>
          </p:cNvPr>
          <p:cNvSpPr txBox="1"/>
          <p:nvPr/>
        </p:nvSpPr>
        <p:spPr>
          <a:xfrm>
            <a:off x="243538" y="3146384"/>
            <a:ext cx="11704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D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Logging rate is 1 kHz (determistic)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D49110C-AC10-9B0D-0B5D-1FC8944BA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228969"/>
              </p:ext>
            </p:extLst>
          </p:nvPr>
        </p:nvGraphicFramePr>
        <p:xfrm>
          <a:off x="1162504" y="3930193"/>
          <a:ext cx="9866984" cy="1005840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2024500">
                  <a:extLst>
                    <a:ext uri="{9D8B030D-6E8A-4147-A177-3AD203B41FA5}">
                      <a16:colId xmlns:a16="http://schemas.microsoft.com/office/drawing/2014/main" val="3362627802"/>
                    </a:ext>
                  </a:extLst>
                </a:gridCol>
                <a:gridCol w="3606139">
                  <a:extLst>
                    <a:ext uri="{9D8B030D-6E8A-4147-A177-3AD203B41FA5}">
                      <a16:colId xmlns:a16="http://schemas.microsoft.com/office/drawing/2014/main" val="1035826510"/>
                    </a:ext>
                  </a:extLst>
                </a:gridCol>
                <a:gridCol w="2231081">
                  <a:extLst>
                    <a:ext uri="{9D8B030D-6E8A-4147-A177-3AD203B41FA5}">
                      <a16:colId xmlns:a16="http://schemas.microsoft.com/office/drawing/2014/main" val="3233118710"/>
                    </a:ext>
                  </a:extLst>
                </a:gridCol>
                <a:gridCol w="2005264">
                  <a:extLst>
                    <a:ext uri="{9D8B030D-6E8A-4147-A177-3AD203B41FA5}">
                      <a16:colId xmlns:a16="http://schemas.microsoft.com/office/drawing/2014/main" val="40114541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>
                          <a:effectLst/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effectLst/>
                        </a:rPr>
                        <a:t>MPU6050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>
                          <a:effectLst/>
                        </a:rPr>
                        <a:t>ICM20948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WIT901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8318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>
                          <a:effectLst/>
                        </a:rPr>
                        <a:t>Actual Sampling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>
                          <a:effectLst/>
                        </a:rPr>
                        <a:t>1 kHz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>
                          <a:effectLst/>
                        </a:rPr>
                        <a:t>1.125 kHz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dirty="0"/>
                        <a:t>200 Hz (Max possible rate)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853481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E73211E-B2EC-164E-2736-3E80E103B0C8}"/>
              </a:ext>
            </a:extLst>
          </p:cNvPr>
          <p:cNvSpPr txBox="1"/>
          <p:nvPr/>
        </p:nvSpPr>
        <p:spPr>
          <a:xfrm>
            <a:off x="4615555" y="5207280"/>
            <a:ext cx="11704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DE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Is it okay to log at 1 kHz, while the FS is 1.125 kHz? </a:t>
            </a:r>
          </a:p>
        </p:txBody>
      </p:sp>
    </p:spTree>
    <p:extLst>
      <p:ext uri="{BB962C8B-B14F-4D97-AF65-F5344CB8AC3E}">
        <p14:creationId xmlns:p14="http://schemas.microsoft.com/office/powerpoint/2010/main" val="349390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06945-9282-4F04-872F-EFFDEC1E8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F17642C-A310-72B4-CE77-1643BC23F756}"/>
              </a:ext>
            </a:extLst>
          </p:cNvPr>
          <p:cNvSpPr txBox="1"/>
          <p:nvPr/>
        </p:nvSpPr>
        <p:spPr>
          <a:xfrm>
            <a:off x="170121" y="180753"/>
            <a:ext cx="463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solidFill>
                  <a:schemeClr val="bg1"/>
                </a:solidFill>
              </a:rPr>
              <a:t>BareMetal Program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A9A629-5399-ADFD-DC83-A31A8992A0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9971" y="1048214"/>
            <a:ext cx="5593421" cy="4077962"/>
          </a:xfrm>
          <a:prstGeom prst="rect">
            <a:avLst/>
          </a:prstGeom>
        </p:spPr>
      </p:pic>
      <p:pic>
        <p:nvPicPr>
          <p:cNvPr id="3" name="Picture 2" descr="The Devil's staircase for the geomagnetic polarity time series... |  Download Scientific Diagram">
            <a:extLst>
              <a:ext uri="{FF2B5EF4-FFF2-40B4-BE49-F238E27FC236}">
                <a16:creationId xmlns:a16="http://schemas.microsoft.com/office/drawing/2014/main" id="{7662335A-FB62-E345-847B-A0819C037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98" y="1830898"/>
            <a:ext cx="4072690" cy="2784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787C9B-CF2A-50D5-A886-46D7BF1DBB41}"/>
              </a:ext>
            </a:extLst>
          </p:cNvPr>
          <p:cNvSpPr txBox="1"/>
          <p:nvPr/>
        </p:nvSpPr>
        <p:spPr>
          <a:xfrm>
            <a:off x="679971" y="5408862"/>
            <a:ext cx="8073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DE" dirty="0">
                <a:solidFill>
                  <a:schemeClr val="bg1"/>
                </a:solidFill>
              </a:rPr>
              <a:t>Using Delays is a bad approach – why?</a:t>
            </a:r>
          </a:p>
          <a:p>
            <a:pPr marL="342900" indent="-342900">
              <a:buAutoNum type="arabicParenR"/>
            </a:pPr>
            <a:r>
              <a:rPr lang="en-GB" dirty="0">
                <a:solidFill>
                  <a:schemeClr val="bg1"/>
                </a:solidFill>
              </a:rPr>
              <a:t>I</a:t>
            </a:r>
            <a:r>
              <a:rPr lang="en-DE" dirty="0">
                <a:solidFill>
                  <a:schemeClr val="bg1"/>
                </a:solidFill>
              </a:rPr>
              <a:t>n case SD Wrinting function stall we will be losing data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4B16025-FA0A-427A-15BC-7322915C1499}"/>
              </a:ext>
            </a:extLst>
          </p:cNvPr>
          <p:cNvSpPr/>
          <p:nvPr/>
        </p:nvSpPr>
        <p:spPr>
          <a:xfrm>
            <a:off x="679971" y="4315522"/>
            <a:ext cx="1806751" cy="30003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8B6345-E501-BF29-483D-F76BBA01C7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5795" y="3234905"/>
            <a:ext cx="6402192" cy="294154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FA1BF-E5AC-F74C-4DDD-CB893B33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27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62166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" grpId="0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06721-6697-3617-6B58-AAE32BDE5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6B98F00-3E79-DD2E-C0BE-0CDE70FE0241}"/>
              </a:ext>
            </a:extLst>
          </p:cNvPr>
          <p:cNvSpPr txBox="1"/>
          <p:nvPr/>
        </p:nvSpPr>
        <p:spPr>
          <a:xfrm>
            <a:off x="170121" y="180753"/>
            <a:ext cx="463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solidFill>
                  <a:schemeClr val="bg1"/>
                </a:solidFill>
              </a:rPr>
              <a:t>ESP32 +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5160EE-7F16-07CA-85C3-2C58CB96E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7485" y="850900"/>
            <a:ext cx="4445000" cy="3327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B0F3D3-0C53-9BD5-3302-EE4A5F3BE5A6}"/>
              </a:ext>
            </a:extLst>
          </p:cNvPr>
          <p:cNvSpPr txBox="1"/>
          <p:nvPr/>
        </p:nvSpPr>
        <p:spPr>
          <a:xfrm>
            <a:off x="4337515" y="1494032"/>
            <a:ext cx="1486829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DE" sz="2400" b="1" dirty="0">
                <a:solidFill>
                  <a:schemeClr val="bg1"/>
                </a:solidFill>
              </a:rPr>
              <a:t> Core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CA2CD1-2262-08D3-1280-F2D3BC88BAF3}"/>
              </a:ext>
            </a:extLst>
          </p:cNvPr>
          <p:cNvSpPr txBox="1"/>
          <p:nvPr/>
        </p:nvSpPr>
        <p:spPr>
          <a:xfrm>
            <a:off x="6723875" y="1494031"/>
            <a:ext cx="1486829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DE" sz="2400" b="1" dirty="0">
                <a:solidFill>
                  <a:schemeClr val="bg1"/>
                </a:solidFill>
              </a:rPr>
              <a:t> Core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710645-70F0-D39D-E477-E6CB2B62675F}"/>
              </a:ext>
            </a:extLst>
          </p:cNvPr>
          <p:cNvSpPr txBox="1"/>
          <p:nvPr/>
        </p:nvSpPr>
        <p:spPr>
          <a:xfrm>
            <a:off x="3887749" y="2041069"/>
            <a:ext cx="2386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000" b="1" dirty="0">
                <a:solidFill>
                  <a:schemeClr val="bg1"/>
                </a:solidFill>
              </a:rPr>
              <a:t>Sensors Collector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FF72EA-1C9A-832A-77DD-06BEEBCC04DC}"/>
              </a:ext>
            </a:extLst>
          </p:cNvPr>
          <p:cNvSpPr txBox="1"/>
          <p:nvPr/>
        </p:nvSpPr>
        <p:spPr>
          <a:xfrm>
            <a:off x="6306042" y="2031977"/>
            <a:ext cx="2671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000" b="1" dirty="0">
                <a:solidFill>
                  <a:schemeClr val="bg1"/>
                </a:solidFill>
              </a:rPr>
              <a:t>Writing to SD(Logger)</a:t>
            </a:r>
          </a:p>
        </p:txBody>
      </p:sp>
      <p:sp>
        <p:nvSpPr>
          <p:cNvPr id="16" name="Notched Right Arrow 15">
            <a:extLst>
              <a:ext uri="{FF2B5EF4-FFF2-40B4-BE49-F238E27FC236}">
                <a16:creationId xmlns:a16="http://schemas.microsoft.com/office/drawing/2014/main" id="{DF6F027A-5A07-660C-B86F-0FDF9FFDD9D6}"/>
              </a:ext>
            </a:extLst>
          </p:cNvPr>
          <p:cNvSpPr/>
          <p:nvPr/>
        </p:nvSpPr>
        <p:spPr>
          <a:xfrm>
            <a:off x="5241073" y="602363"/>
            <a:ext cx="1884556" cy="501805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Queue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725A1A0-C011-D751-6CA4-D96F223F6BB2}"/>
              </a:ext>
            </a:extLst>
          </p:cNvPr>
          <p:cNvCxnSpPr>
            <a:stCxn id="7" idx="0"/>
          </p:cNvCxnSpPr>
          <p:nvPr/>
        </p:nvCxnSpPr>
        <p:spPr>
          <a:xfrm flipV="1">
            <a:off x="5080930" y="1003610"/>
            <a:ext cx="405470" cy="4904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A60D377-5535-6926-FF1B-D69A4BD85D4E}"/>
              </a:ext>
            </a:extLst>
          </p:cNvPr>
          <p:cNvCxnSpPr/>
          <p:nvPr/>
        </p:nvCxnSpPr>
        <p:spPr>
          <a:xfrm>
            <a:off x="6723875" y="1014761"/>
            <a:ext cx="312545" cy="3902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54FF1B2-14D8-8912-7E03-2A3AD2E96B4E}"/>
              </a:ext>
            </a:extLst>
          </p:cNvPr>
          <p:cNvSpPr txBox="1"/>
          <p:nvPr/>
        </p:nvSpPr>
        <p:spPr>
          <a:xfrm>
            <a:off x="4587411" y="1067110"/>
            <a:ext cx="1147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000" b="1" dirty="0">
                <a:solidFill>
                  <a:schemeClr val="bg1"/>
                </a:solidFill>
              </a:rPr>
              <a:t>Buffer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B68D99-2278-6792-4EDF-F2F87364AD37}"/>
              </a:ext>
            </a:extLst>
          </p:cNvPr>
          <p:cNvSpPr txBox="1"/>
          <p:nvPr/>
        </p:nvSpPr>
        <p:spPr>
          <a:xfrm>
            <a:off x="6363318" y="1014761"/>
            <a:ext cx="1147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000" b="1" dirty="0">
                <a:solidFill>
                  <a:schemeClr val="bg1"/>
                </a:solidFill>
              </a:rPr>
              <a:t>Buffer</a:t>
            </a:r>
          </a:p>
        </p:txBody>
      </p:sp>
      <p:sp>
        <p:nvSpPr>
          <p:cNvPr id="25" name="Curved Up Arrow 24">
            <a:extLst>
              <a:ext uri="{FF2B5EF4-FFF2-40B4-BE49-F238E27FC236}">
                <a16:creationId xmlns:a16="http://schemas.microsoft.com/office/drawing/2014/main" id="{0304138C-D59C-AF80-1F38-F61F4B8489A4}"/>
              </a:ext>
            </a:extLst>
          </p:cNvPr>
          <p:cNvSpPr/>
          <p:nvPr/>
        </p:nvSpPr>
        <p:spPr>
          <a:xfrm flipH="1">
            <a:off x="4893621" y="3145865"/>
            <a:ext cx="2386360" cy="96458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solidFill>
                  <a:schemeClr val="bg1"/>
                </a:solidFill>
              </a:rPr>
              <a:t>Buffer Release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93B8AF6-F359-537F-B234-A48C150C8DC7}"/>
              </a:ext>
            </a:extLst>
          </p:cNvPr>
          <p:cNvSpPr/>
          <p:nvPr/>
        </p:nvSpPr>
        <p:spPr>
          <a:xfrm>
            <a:off x="4013466" y="2049266"/>
            <a:ext cx="2260643" cy="40011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14F415F-ABC4-E412-FA1C-6575282D2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536" y="3056811"/>
            <a:ext cx="1549559" cy="1559787"/>
          </a:xfrm>
          <a:prstGeom prst="rect">
            <a:avLst/>
          </a:prstGeom>
        </p:spPr>
      </p:pic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982991EB-CD50-BE51-829B-82AD89C8D855}"/>
              </a:ext>
            </a:extLst>
          </p:cNvPr>
          <p:cNvCxnSpPr>
            <a:cxnSpLocks/>
            <a:stCxn id="40" idx="1"/>
          </p:cNvCxnSpPr>
          <p:nvPr/>
        </p:nvCxnSpPr>
        <p:spPr>
          <a:xfrm rot="10800000">
            <a:off x="5486400" y="2457573"/>
            <a:ext cx="4133136" cy="137913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98BCA6-AA4F-BD81-BBFD-929BDF041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28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922353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5B2AC-BC90-EC6C-8481-7D8969309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5E107E4-F02D-C56A-0B27-03A7BCF2D71A}"/>
              </a:ext>
            </a:extLst>
          </p:cNvPr>
          <p:cNvSpPr txBox="1"/>
          <p:nvPr/>
        </p:nvSpPr>
        <p:spPr>
          <a:xfrm>
            <a:off x="170121" y="180753"/>
            <a:ext cx="463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solidFill>
                  <a:schemeClr val="bg1"/>
                </a:solidFill>
              </a:rPr>
              <a:t>Visulaisation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15EABC-1336-E8CF-067B-444D790B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29</a:t>
            </a:fld>
            <a:endParaRPr lang="en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C9EA09-0F08-6DCC-24EC-871DCA63E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93475"/>
            <a:ext cx="7772400" cy="447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748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24787-C475-9364-B402-F089C7F9F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C3ACB-54F6-3D68-6A3E-69827E26A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1811"/>
            <a:ext cx="9144000" cy="1174377"/>
          </a:xfrm>
        </p:spPr>
        <p:txBody>
          <a:bodyPr>
            <a:normAutofit/>
          </a:bodyPr>
          <a:lstStyle/>
          <a:p>
            <a:pPr lvl="0"/>
            <a:r>
              <a:rPr lang="en-DE" dirty="0">
                <a:solidFill>
                  <a:schemeClr val="bg1"/>
                </a:solidFill>
              </a:rPr>
              <a:t>4. Findings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2421F6-A2AE-3B85-B0B8-A94C0C1B1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30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8870512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C9BFD-8592-0B48-6546-283A4DD7F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73E5C5C-009A-4126-C627-A5D362A090FB}"/>
              </a:ext>
            </a:extLst>
          </p:cNvPr>
          <p:cNvSpPr txBox="1"/>
          <p:nvPr/>
        </p:nvSpPr>
        <p:spPr>
          <a:xfrm>
            <a:off x="170121" y="180753"/>
            <a:ext cx="463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solidFill>
                  <a:schemeClr val="bg1"/>
                </a:solidFill>
              </a:rPr>
              <a:t>Results – Gyro 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70E0CF-7A05-F0B3-3635-6CC1D0928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31</a:t>
            </a:fld>
            <a:endParaRPr lang="en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F0EDF8-0DC9-DF7E-0147-057299DFD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656" y="1352274"/>
            <a:ext cx="9908688" cy="4364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0944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E9478-6279-0254-E7C6-54271ED33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43AA0E4-A9DB-9D97-6025-69AB2C5120EF}"/>
              </a:ext>
            </a:extLst>
          </p:cNvPr>
          <p:cNvSpPr txBox="1"/>
          <p:nvPr/>
        </p:nvSpPr>
        <p:spPr>
          <a:xfrm>
            <a:off x="170121" y="180753"/>
            <a:ext cx="463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solidFill>
                  <a:schemeClr val="bg1"/>
                </a:solidFill>
              </a:rPr>
              <a:t>Results – Gyro 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1F3E1A-CCF2-E217-6C0C-9DF605FCA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32</a:t>
            </a:fld>
            <a:endParaRPr lang="en-DE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A58BEF-3C61-F841-E139-6194514BC5C9}"/>
              </a:ext>
            </a:extLst>
          </p:cNvPr>
          <p:cNvGraphicFramePr>
            <a:graphicFrameLocks noGrp="1"/>
          </p:cNvGraphicFramePr>
          <p:nvPr/>
        </p:nvGraphicFramePr>
        <p:xfrm>
          <a:off x="1546428" y="1445890"/>
          <a:ext cx="9099144" cy="364742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74786">
                  <a:extLst>
                    <a:ext uri="{9D8B030D-6E8A-4147-A177-3AD203B41FA5}">
                      <a16:colId xmlns:a16="http://schemas.microsoft.com/office/drawing/2014/main" val="1084259077"/>
                    </a:ext>
                  </a:extLst>
                </a:gridCol>
                <a:gridCol w="2274786">
                  <a:extLst>
                    <a:ext uri="{9D8B030D-6E8A-4147-A177-3AD203B41FA5}">
                      <a16:colId xmlns:a16="http://schemas.microsoft.com/office/drawing/2014/main" val="1459850135"/>
                    </a:ext>
                  </a:extLst>
                </a:gridCol>
                <a:gridCol w="2274786">
                  <a:extLst>
                    <a:ext uri="{9D8B030D-6E8A-4147-A177-3AD203B41FA5}">
                      <a16:colId xmlns:a16="http://schemas.microsoft.com/office/drawing/2014/main" val="3368314900"/>
                    </a:ext>
                  </a:extLst>
                </a:gridCol>
                <a:gridCol w="2274786">
                  <a:extLst>
                    <a:ext uri="{9D8B030D-6E8A-4147-A177-3AD203B41FA5}">
                      <a16:colId xmlns:a16="http://schemas.microsoft.com/office/drawing/2014/main" val="1257630613"/>
                    </a:ext>
                  </a:extLst>
                </a:gridCol>
              </a:tblGrid>
              <a:tr h="553631">
                <a:tc>
                  <a:txBody>
                    <a:bodyPr/>
                    <a:lstStyle/>
                    <a:p>
                      <a:r>
                        <a:rPr lang="en-DE" dirty="0"/>
                        <a:t>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MPU6050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ICM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WIT901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657625"/>
                  </a:ext>
                </a:extLst>
              </a:tr>
              <a:tr h="533470">
                <a:tc>
                  <a:txBody>
                    <a:bodyPr/>
                    <a:lstStyle/>
                    <a:p>
                      <a:r>
                        <a:rPr lang="en-DE" dirty="0"/>
                        <a:t>ARW(</a:t>
                      </a:r>
                      <a:r>
                        <a:rPr lang="en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°/s/s^½</a:t>
                      </a:r>
                      <a:r>
                        <a:rPr lang="en-D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4.2799e-03</a:t>
                      </a:r>
                    </a:p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8.1608e-03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3.4866e-05 (Not real)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618558"/>
                  </a:ext>
                </a:extLst>
              </a:tr>
              <a:tr h="533470">
                <a:tc>
                  <a:txBody>
                    <a:bodyPr/>
                    <a:lstStyle/>
                    <a:p>
                      <a:r>
                        <a:rPr lang="en-DE" dirty="0"/>
                        <a:t>ARW - Data Sheet</a:t>
                      </a:r>
                    </a:p>
                    <a:p>
                      <a:r>
                        <a:rPr lang="en-DE" dirty="0"/>
                        <a:t>(</a:t>
                      </a:r>
                      <a:r>
                        <a:rPr lang="en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°/s/s^½</a:t>
                      </a:r>
                      <a:r>
                        <a:rPr lang="en-D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0.005 º/s/√Hz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0.015 dps/√Hz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0.0028 - 0.007 dps/√Hz.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526179"/>
                  </a:ext>
                </a:extLst>
              </a:tr>
              <a:tr h="533470">
                <a:tc>
                  <a:txBody>
                    <a:bodyPr/>
                    <a:lstStyle/>
                    <a:p>
                      <a:r>
                        <a:rPr lang="en-DE" dirty="0"/>
                        <a:t>BIAS- instability</a:t>
                      </a:r>
                    </a:p>
                    <a:p>
                      <a:r>
                        <a:rPr lang="en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(°/s/s^½)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0.0038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0.0043655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4.8657e-07 (Not Real)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627266"/>
                  </a:ext>
                </a:extLst>
              </a:tr>
              <a:tr h="5334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Rate Of Random walk </a:t>
                      </a:r>
                      <a:r>
                        <a:rPr lang="en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(°/s/s^½)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1.5942e-03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2.9729e-03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1.5483e-05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833423"/>
                  </a:ext>
                </a:extLst>
              </a:tr>
              <a:tr h="5334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Ramp rate </a:t>
                      </a:r>
                      <a:r>
                        <a:rPr lang="en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(°/s/s^½)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00933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EFF0CAA-5BFB-BD43-2FE8-8A4CE90B4441}"/>
              </a:ext>
            </a:extLst>
          </p:cNvPr>
          <p:cNvSpPr txBox="1"/>
          <p:nvPr/>
        </p:nvSpPr>
        <p:spPr>
          <a:xfrm>
            <a:off x="487083" y="5435119"/>
            <a:ext cx="11704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MPU has a better short term performance but when it comes to hgiher long periods, ICM Works better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17A90B-EB66-FBB2-EFA5-BA84BB117104}"/>
              </a:ext>
            </a:extLst>
          </p:cNvPr>
          <p:cNvSpPr txBox="1"/>
          <p:nvPr/>
        </p:nvSpPr>
        <p:spPr>
          <a:xfrm>
            <a:off x="487083" y="5895734"/>
            <a:ext cx="11704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</a:t>
            </a:r>
            <a:r>
              <a:rPr lang="en-DE" dirty="0">
                <a:solidFill>
                  <a:schemeClr val="bg1"/>
                </a:solidFill>
              </a:rPr>
              <a:t>he Reason why the ICM behaviour is inferior to MPU, because it is a newer one die with two sensors</a:t>
            </a:r>
          </a:p>
        </p:txBody>
      </p:sp>
    </p:spTree>
    <p:extLst>
      <p:ext uri="{BB962C8B-B14F-4D97-AF65-F5344CB8AC3E}">
        <p14:creationId xmlns:p14="http://schemas.microsoft.com/office/powerpoint/2010/main" val="241360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530F8-25CC-4173-57EE-54FC7EAD7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9E5647E-386B-4A79-415A-F7B17FFB7B6F}"/>
              </a:ext>
            </a:extLst>
          </p:cNvPr>
          <p:cNvSpPr txBox="1"/>
          <p:nvPr/>
        </p:nvSpPr>
        <p:spPr>
          <a:xfrm>
            <a:off x="170121" y="180753"/>
            <a:ext cx="463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solidFill>
                  <a:schemeClr val="bg1"/>
                </a:solidFill>
              </a:rPr>
              <a:t>Results – AccY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397170-F2D7-AE7C-330A-1239085B0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33</a:t>
            </a:fld>
            <a:endParaRPr lang="en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65FC6D-5EB0-33E1-E0BD-728252C0B0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1656" y="1384247"/>
            <a:ext cx="9908688" cy="430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6563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1BCA3-8937-ACDA-4332-A88359D64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CEF2A51-1B9E-3CCF-1B4A-B534074CAF05}"/>
              </a:ext>
            </a:extLst>
          </p:cNvPr>
          <p:cNvSpPr txBox="1"/>
          <p:nvPr/>
        </p:nvSpPr>
        <p:spPr>
          <a:xfrm>
            <a:off x="170121" y="180753"/>
            <a:ext cx="463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solidFill>
                  <a:schemeClr val="bg1"/>
                </a:solidFill>
              </a:rPr>
              <a:t>Results – Acc 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B4F9CC-873C-60D4-D858-2269E5A5C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34</a:t>
            </a:fld>
            <a:endParaRPr lang="en-DE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7A8BA5-A575-DF26-F509-7C98026E50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119713"/>
              </p:ext>
            </p:extLst>
          </p:nvPr>
        </p:nvGraphicFramePr>
        <p:xfrm>
          <a:off x="1546428" y="1445890"/>
          <a:ext cx="9099144" cy="354081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74786">
                  <a:extLst>
                    <a:ext uri="{9D8B030D-6E8A-4147-A177-3AD203B41FA5}">
                      <a16:colId xmlns:a16="http://schemas.microsoft.com/office/drawing/2014/main" val="1084259077"/>
                    </a:ext>
                  </a:extLst>
                </a:gridCol>
                <a:gridCol w="2274786">
                  <a:extLst>
                    <a:ext uri="{9D8B030D-6E8A-4147-A177-3AD203B41FA5}">
                      <a16:colId xmlns:a16="http://schemas.microsoft.com/office/drawing/2014/main" val="1459850135"/>
                    </a:ext>
                  </a:extLst>
                </a:gridCol>
                <a:gridCol w="2274786">
                  <a:extLst>
                    <a:ext uri="{9D8B030D-6E8A-4147-A177-3AD203B41FA5}">
                      <a16:colId xmlns:a16="http://schemas.microsoft.com/office/drawing/2014/main" val="3368314900"/>
                    </a:ext>
                  </a:extLst>
                </a:gridCol>
                <a:gridCol w="2274786">
                  <a:extLst>
                    <a:ext uri="{9D8B030D-6E8A-4147-A177-3AD203B41FA5}">
                      <a16:colId xmlns:a16="http://schemas.microsoft.com/office/drawing/2014/main" val="1257630613"/>
                    </a:ext>
                  </a:extLst>
                </a:gridCol>
              </a:tblGrid>
              <a:tr h="553631">
                <a:tc>
                  <a:txBody>
                    <a:bodyPr/>
                    <a:lstStyle/>
                    <a:p>
                      <a:r>
                        <a:rPr lang="en-DE" dirty="0"/>
                        <a:t>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MPU6050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ICM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WIT901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657625"/>
                  </a:ext>
                </a:extLst>
              </a:tr>
              <a:tr h="533470">
                <a:tc>
                  <a:txBody>
                    <a:bodyPr/>
                    <a:lstStyle/>
                    <a:p>
                      <a:r>
                        <a:rPr lang="en-DE" dirty="0"/>
                        <a:t>ARW(</a:t>
                      </a:r>
                      <a:r>
                        <a:rPr lang="en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°/s/s^½</a:t>
                      </a:r>
                      <a:r>
                        <a:rPr lang="en-D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1.3952e-04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2.7137e-04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8.3488e-05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618558"/>
                  </a:ext>
                </a:extLst>
              </a:tr>
              <a:tr h="533470">
                <a:tc>
                  <a:txBody>
                    <a:bodyPr/>
                    <a:lstStyle/>
                    <a:p>
                      <a:r>
                        <a:rPr lang="en-DE" dirty="0"/>
                        <a:t>ARW - Data Sheet</a:t>
                      </a:r>
                    </a:p>
                    <a:p>
                      <a:r>
                        <a:rPr lang="en-DE" dirty="0"/>
                        <a:t>(</a:t>
                      </a:r>
                      <a:r>
                        <a:rPr lang="en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°/s/s^½</a:t>
                      </a:r>
                      <a:r>
                        <a:rPr lang="en-D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400 µ</a:t>
                      </a:r>
                      <a:r>
                        <a:rPr lang="en-DE" sz="1800" b="0" i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r>
                        <a:rPr lang="en-DE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/√Hz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230 µg/√Hz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75 - 100 µg /√Hz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526179"/>
                  </a:ext>
                </a:extLst>
              </a:tr>
              <a:tr h="533470">
                <a:tc>
                  <a:txBody>
                    <a:bodyPr/>
                    <a:lstStyle/>
                    <a:p>
                      <a:r>
                        <a:rPr lang="en-DE" dirty="0"/>
                        <a:t>BIAS- instability</a:t>
                      </a:r>
                    </a:p>
                    <a:p>
                      <a:r>
                        <a:rPr lang="en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(°/s/s^½)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4.7515</a:t>
                      </a:r>
                      <a:r>
                        <a:rPr lang="en-DE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e-05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2.069e-4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4.4259e-5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627266"/>
                  </a:ext>
                </a:extLst>
              </a:tr>
              <a:tr h="5334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Rate Of Random walk </a:t>
                      </a:r>
                      <a:r>
                        <a:rPr lang="en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(°/s/s^½)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4.4354e-05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1.1822e-04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3.0852e-05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833423"/>
                  </a:ext>
                </a:extLst>
              </a:tr>
              <a:tr h="5334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Ramp rate </a:t>
                      </a:r>
                      <a:r>
                        <a:rPr lang="en-DE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(°/s/s^½)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00933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DA12238-E4BA-3621-4ECC-FB30E47E4E59}"/>
              </a:ext>
            </a:extLst>
          </p:cNvPr>
          <p:cNvSpPr txBox="1"/>
          <p:nvPr/>
        </p:nvSpPr>
        <p:spPr>
          <a:xfrm>
            <a:off x="487083" y="5435119"/>
            <a:ext cx="11704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ICM has a highrt bias instability and a higher Noise Desnity, but better in long terms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859542-E5F0-67CB-B828-660D2107D805}"/>
              </a:ext>
            </a:extLst>
          </p:cNvPr>
          <p:cNvSpPr txBox="1"/>
          <p:nvPr/>
        </p:nvSpPr>
        <p:spPr>
          <a:xfrm>
            <a:off x="487083" y="5895734"/>
            <a:ext cx="11704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</a:t>
            </a:r>
            <a:r>
              <a:rPr lang="en-DE" dirty="0">
                <a:solidFill>
                  <a:schemeClr val="bg1"/>
                </a:solidFill>
              </a:rPr>
              <a:t>he Reason why the ICM behaviour is inferior to MPU, because it is a newer one die with two sensors</a:t>
            </a:r>
          </a:p>
        </p:txBody>
      </p:sp>
    </p:spTree>
    <p:extLst>
      <p:ext uri="{BB962C8B-B14F-4D97-AF65-F5344CB8AC3E}">
        <p14:creationId xmlns:p14="http://schemas.microsoft.com/office/powerpoint/2010/main" val="70738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A50F2-8B70-B124-9970-F51A929E2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70B3EBD-82CF-B0E3-CFBE-65DEFD340B96}"/>
              </a:ext>
            </a:extLst>
          </p:cNvPr>
          <p:cNvSpPr txBox="1"/>
          <p:nvPr/>
        </p:nvSpPr>
        <p:spPr>
          <a:xfrm>
            <a:off x="170121" y="180753"/>
            <a:ext cx="463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solidFill>
                  <a:schemeClr val="bg1"/>
                </a:solidFill>
              </a:rPr>
              <a:t>Results – Acc 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6985E7-9C64-C037-9517-FD695DBE4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35</a:t>
            </a:fld>
            <a:endParaRPr lang="en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F46979-9615-CFD9-83A8-24B1944F6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175" y="1679343"/>
            <a:ext cx="9229649" cy="41553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E2E00D-C3AE-4BD0-416E-3ADEBCCCAB03}"/>
              </a:ext>
            </a:extLst>
          </p:cNvPr>
          <p:cNvSpPr txBox="1"/>
          <p:nvPr/>
        </p:nvSpPr>
        <p:spPr>
          <a:xfrm>
            <a:off x="10276114" y="4934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6589903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D2048-282F-08DF-0E49-31CDD5155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F9D96-F1F2-E519-2470-703280185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32049"/>
            <a:ext cx="9144000" cy="1078996"/>
          </a:xfrm>
        </p:spPr>
        <p:txBody>
          <a:bodyPr/>
          <a:lstStyle/>
          <a:p>
            <a:r>
              <a:rPr lang="en-DE" dirty="0">
                <a:solidFill>
                  <a:schemeClr val="bg1"/>
                </a:solidFill>
              </a:rPr>
              <a:t>FreeRTOS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1EE5F6-F53E-82E8-A732-19DFA1228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36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982301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549B8-B207-1B0E-74BE-859785C8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4AEDF84-8E47-2C0B-8B0C-AC85702E06C9}"/>
              </a:ext>
            </a:extLst>
          </p:cNvPr>
          <p:cNvSpPr txBox="1"/>
          <p:nvPr/>
        </p:nvSpPr>
        <p:spPr>
          <a:xfrm>
            <a:off x="170121" y="180753"/>
            <a:ext cx="463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solidFill>
                  <a:schemeClr val="bg1"/>
                </a:solidFill>
              </a:rPr>
              <a:t>FreeRTOS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9DCFDF-8091-C49C-C109-DD5B6F80D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32049"/>
            <a:ext cx="9144000" cy="1078996"/>
          </a:xfrm>
        </p:spPr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Just Scheduler + </a:t>
            </a:r>
            <a:r>
              <a:rPr lang="de-DE" dirty="0" err="1">
                <a:solidFill>
                  <a:schemeClr val="bg1"/>
                </a:solidFill>
              </a:rPr>
              <a:t>some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extras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F72E57-765D-CA11-7A26-6356C97D5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37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25061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FF7A-8742-3841-B168-2A7C6B4A6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006BCF6-CE10-6B32-1F02-FFE15E88EDC0}"/>
              </a:ext>
            </a:extLst>
          </p:cNvPr>
          <p:cNvSpPr txBox="1"/>
          <p:nvPr/>
        </p:nvSpPr>
        <p:spPr>
          <a:xfrm>
            <a:off x="170121" y="180753"/>
            <a:ext cx="51901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solidFill>
                  <a:schemeClr val="bg1"/>
                </a:solidFill>
              </a:rPr>
              <a:t>FreeRTOS Flavours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51CCB0-AFF4-2CE4-4EB7-5784D9A5802D}"/>
              </a:ext>
            </a:extLst>
          </p:cNvPr>
          <p:cNvSpPr txBox="1"/>
          <p:nvPr/>
        </p:nvSpPr>
        <p:spPr>
          <a:xfrm>
            <a:off x="4316495" y="1494032"/>
            <a:ext cx="1486829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DE" sz="2400" b="1" dirty="0">
                <a:solidFill>
                  <a:schemeClr val="bg1"/>
                </a:solidFill>
              </a:rPr>
              <a:t> Core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488F3C-1B0F-6BB7-B5EB-6282C18CE967}"/>
              </a:ext>
            </a:extLst>
          </p:cNvPr>
          <p:cNvSpPr txBox="1"/>
          <p:nvPr/>
        </p:nvSpPr>
        <p:spPr>
          <a:xfrm>
            <a:off x="6734385" y="1494031"/>
            <a:ext cx="1486829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DE" sz="2400" b="1" dirty="0">
                <a:solidFill>
                  <a:schemeClr val="bg1"/>
                </a:solidFill>
              </a:rPr>
              <a:t> Core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E655B9-93DB-C61D-DE45-E716A359B5F7}"/>
              </a:ext>
            </a:extLst>
          </p:cNvPr>
          <p:cNvSpPr txBox="1"/>
          <p:nvPr/>
        </p:nvSpPr>
        <p:spPr>
          <a:xfrm>
            <a:off x="3887749" y="2041069"/>
            <a:ext cx="2386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000" b="1" dirty="0">
                <a:solidFill>
                  <a:schemeClr val="bg1"/>
                </a:solidFill>
              </a:rPr>
              <a:t>Sensors Collector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F46053-B621-5F64-CEC9-E3FF057902A5}"/>
              </a:ext>
            </a:extLst>
          </p:cNvPr>
          <p:cNvSpPr txBox="1"/>
          <p:nvPr/>
        </p:nvSpPr>
        <p:spPr>
          <a:xfrm>
            <a:off x="6212108" y="2008017"/>
            <a:ext cx="2693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000" b="1" dirty="0">
                <a:solidFill>
                  <a:schemeClr val="bg1"/>
                </a:solidFill>
              </a:rPr>
              <a:t>Writing to SD(Logger)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638B47-6E15-7B1E-2735-DA94803BD427}"/>
              </a:ext>
            </a:extLst>
          </p:cNvPr>
          <p:cNvSpPr txBox="1"/>
          <p:nvPr/>
        </p:nvSpPr>
        <p:spPr>
          <a:xfrm>
            <a:off x="4916293" y="2562523"/>
            <a:ext cx="2476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000" b="1" dirty="0">
                <a:solidFill>
                  <a:schemeClr val="bg1"/>
                </a:solidFill>
              </a:rPr>
              <a:t>Sending data to RF</a:t>
            </a:r>
          </a:p>
        </p:txBody>
      </p:sp>
      <p:sp>
        <p:nvSpPr>
          <p:cNvPr id="16" name="Notched Right Arrow 15">
            <a:extLst>
              <a:ext uri="{FF2B5EF4-FFF2-40B4-BE49-F238E27FC236}">
                <a16:creationId xmlns:a16="http://schemas.microsoft.com/office/drawing/2014/main" id="{7913FB58-04A4-BF9C-9CB2-D2FEE52F697E}"/>
              </a:ext>
            </a:extLst>
          </p:cNvPr>
          <p:cNvSpPr/>
          <p:nvPr/>
        </p:nvSpPr>
        <p:spPr>
          <a:xfrm>
            <a:off x="5241073" y="602363"/>
            <a:ext cx="1884556" cy="501805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Queue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CAEDCCF-0CA1-885A-10D9-A5C3E4574769}"/>
              </a:ext>
            </a:extLst>
          </p:cNvPr>
          <p:cNvCxnSpPr>
            <a:stCxn id="7" idx="0"/>
          </p:cNvCxnSpPr>
          <p:nvPr/>
        </p:nvCxnSpPr>
        <p:spPr>
          <a:xfrm flipV="1">
            <a:off x="5059910" y="1003610"/>
            <a:ext cx="405470" cy="4904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AFD2E55-12E7-1194-0B70-C07E0EE1FB21}"/>
              </a:ext>
            </a:extLst>
          </p:cNvPr>
          <p:cNvCxnSpPr/>
          <p:nvPr/>
        </p:nvCxnSpPr>
        <p:spPr>
          <a:xfrm>
            <a:off x="6723875" y="1014761"/>
            <a:ext cx="312545" cy="3902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708DC12-78B1-EB5B-2CBD-DD5DC6EA1D2D}"/>
              </a:ext>
            </a:extLst>
          </p:cNvPr>
          <p:cNvSpPr txBox="1"/>
          <p:nvPr/>
        </p:nvSpPr>
        <p:spPr>
          <a:xfrm>
            <a:off x="4587411" y="1067110"/>
            <a:ext cx="1147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000" b="1" dirty="0">
                <a:solidFill>
                  <a:schemeClr val="bg1"/>
                </a:solidFill>
              </a:rPr>
              <a:t>Buffer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EEDCA1-15A6-D6D8-9C60-848199B1DFC0}"/>
              </a:ext>
            </a:extLst>
          </p:cNvPr>
          <p:cNvSpPr txBox="1"/>
          <p:nvPr/>
        </p:nvSpPr>
        <p:spPr>
          <a:xfrm>
            <a:off x="6363318" y="1014761"/>
            <a:ext cx="1147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000" b="1" dirty="0">
                <a:solidFill>
                  <a:schemeClr val="bg1"/>
                </a:solidFill>
              </a:rPr>
              <a:t>Buffer</a:t>
            </a:r>
          </a:p>
        </p:txBody>
      </p:sp>
      <p:sp>
        <p:nvSpPr>
          <p:cNvPr id="25" name="Curved Up Arrow 24">
            <a:extLst>
              <a:ext uri="{FF2B5EF4-FFF2-40B4-BE49-F238E27FC236}">
                <a16:creationId xmlns:a16="http://schemas.microsoft.com/office/drawing/2014/main" id="{DBB977DD-5842-0B47-14A7-8B9F598A7F7F}"/>
              </a:ext>
            </a:extLst>
          </p:cNvPr>
          <p:cNvSpPr/>
          <p:nvPr/>
        </p:nvSpPr>
        <p:spPr>
          <a:xfrm flipH="1">
            <a:off x="4902820" y="3602679"/>
            <a:ext cx="2386360" cy="96458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>
                <a:solidFill>
                  <a:schemeClr val="bg1"/>
                </a:solidFill>
              </a:rPr>
              <a:t>Buffer Release</a:t>
            </a:r>
            <a:endParaRPr lang="en-DE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A02FE9D-DA17-D6D6-EBC5-2746D6BAB108}"/>
              </a:ext>
            </a:extLst>
          </p:cNvPr>
          <p:cNvCxnSpPr>
            <a:cxnSpLocks/>
          </p:cNvCxnSpPr>
          <p:nvPr/>
        </p:nvCxnSpPr>
        <p:spPr>
          <a:xfrm flipH="1" flipV="1">
            <a:off x="3373008" y="1678599"/>
            <a:ext cx="651711" cy="518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3397882-ECD9-7C65-1400-7B4AFEA1C755}"/>
              </a:ext>
            </a:extLst>
          </p:cNvPr>
          <p:cNvSpPr txBox="1"/>
          <p:nvPr/>
        </p:nvSpPr>
        <p:spPr>
          <a:xfrm>
            <a:off x="2189587" y="1248821"/>
            <a:ext cx="143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High Prio (3)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67DDCFA-64F3-006F-C188-D7D4386D4E6F}"/>
              </a:ext>
            </a:extLst>
          </p:cNvPr>
          <p:cNvSpPr txBox="1"/>
          <p:nvPr/>
        </p:nvSpPr>
        <p:spPr>
          <a:xfrm>
            <a:off x="2296285" y="3092284"/>
            <a:ext cx="143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Low Prio (2)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A659B6A-18DF-22BF-27E5-47E09F82589F}"/>
              </a:ext>
            </a:extLst>
          </p:cNvPr>
          <p:cNvCxnSpPr>
            <a:cxnSpLocks/>
          </p:cNvCxnSpPr>
          <p:nvPr/>
        </p:nvCxnSpPr>
        <p:spPr>
          <a:xfrm flipH="1">
            <a:off x="3567221" y="2877788"/>
            <a:ext cx="748315" cy="374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C44B2465-E74D-F2F3-1889-E63388239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6862" y="1292052"/>
            <a:ext cx="1549559" cy="1559787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A2FB362-3D6E-5C96-7D1E-2A16D1C2D9A0}"/>
              </a:ext>
            </a:extLst>
          </p:cNvPr>
          <p:cNvCxnSpPr>
            <a:cxnSpLocks/>
          </p:cNvCxnSpPr>
          <p:nvPr/>
        </p:nvCxnSpPr>
        <p:spPr>
          <a:xfrm flipH="1">
            <a:off x="1334814" y="1618153"/>
            <a:ext cx="1013273" cy="4229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609A64C-5E18-6F18-629C-A315E6077B72}"/>
              </a:ext>
            </a:extLst>
          </p:cNvPr>
          <p:cNvCxnSpPr>
            <a:cxnSpLocks/>
            <a:stCxn id="35" idx="1"/>
          </p:cNvCxnSpPr>
          <p:nvPr/>
        </p:nvCxnSpPr>
        <p:spPr>
          <a:xfrm flipH="1" flipV="1">
            <a:off x="1334814" y="2567593"/>
            <a:ext cx="961471" cy="709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2E88001-E154-E287-2716-9046A78E2D18}"/>
              </a:ext>
            </a:extLst>
          </p:cNvPr>
          <p:cNvSpPr txBox="1"/>
          <p:nvPr/>
        </p:nvSpPr>
        <p:spPr>
          <a:xfrm>
            <a:off x="498288" y="2133600"/>
            <a:ext cx="1434043" cy="36933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DE" dirty="0">
                <a:solidFill>
                  <a:schemeClr val="bg1"/>
                </a:solidFill>
              </a:rPr>
              <a:t>Task Prio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F33492C-30BD-466E-E6A4-D031FFDA3CBB}"/>
              </a:ext>
            </a:extLst>
          </p:cNvPr>
          <p:cNvCxnSpPr>
            <a:cxnSpLocks/>
          </p:cNvCxnSpPr>
          <p:nvPr/>
        </p:nvCxnSpPr>
        <p:spPr>
          <a:xfrm>
            <a:off x="7572502" y="2439004"/>
            <a:ext cx="568288" cy="8379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6CADE6C-F863-32D5-E02F-5FD33A858755}"/>
              </a:ext>
            </a:extLst>
          </p:cNvPr>
          <p:cNvSpPr txBox="1"/>
          <p:nvPr/>
        </p:nvSpPr>
        <p:spPr>
          <a:xfrm>
            <a:off x="7614113" y="3307827"/>
            <a:ext cx="1193181" cy="40011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DE" sz="2000" b="1" dirty="0">
                <a:solidFill>
                  <a:schemeClr val="bg1"/>
                </a:solidFill>
              </a:rPr>
              <a:t>Tasks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14ADA0-647F-0CD8-9CF0-55B8707FA823}"/>
              </a:ext>
            </a:extLst>
          </p:cNvPr>
          <p:cNvSpPr txBox="1"/>
          <p:nvPr/>
        </p:nvSpPr>
        <p:spPr>
          <a:xfrm>
            <a:off x="7070345" y="206892"/>
            <a:ext cx="1434043" cy="369332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DE" dirty="0">
                <a:solidFill>
                  <a:schemeClr val="bg1"/>
                </a:solidFill>
              </a:rPr>
              <a:t>IPC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E98485-4B28-00D7-9C40-EC88F5523BED}"/>
              </a:ext>
            </a:extLst>
          </p:cNvPr>
          <p:cNvSpPr txBox="1"/>
          <p:nvPr/>
        </p:nvSpPr>
        <p:spPr>
          <a:xfrm>
            <a:off x="5354202" y="4761120"/>
            <a:ext cx="1574927" cy="64633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DE" dirty="0">
                <a:solidFill>
                  <a:schemeClr val="bg1"/>
                </a:solidFill>
              </a:rPr>
              <a:t>Counting Semaphore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CD0CA1-5F81-46C0-AF5A-017FCD329837}"/>
              </a:ext>
            </a:extLst>
          </p:cNvPr>
          <p:cNvSpPr txBox="1"/>
          <p:nvPr/>
        </p:nvSpPr>
        <p:spPr>
          <a:xfrm>
            <a:off x="8012306" y="734579"/>
            <a:ext cx="1884556" cy="646331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DE" dirty="0">
                <a:solidFill>
                  <a:schemeClr val="bg1"/>
                </a:solidFill>
              </a:rPr>
              <a:t>Interupt with task Notification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683F18-89A9-841F-6EFA-FF232E31DBD9}"/>
              </a:ext>
            </a:extLst>
          </p:cNvPr>
          <p:cNvSpPr txBox="1"/>
          <p:nvPr/>
        </p:nvSpPr>
        <p:spPr>
          <a:xfrm>
            <a:off x="5803324" y="1542691"/>
            <a:ext cx="911858" cy="36933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DE" dirty="0">
                <a:solidFill>
                  <a:schemeClr val="bg1"/>
                </a:solidFill>
              </a:rPr>
              <a:t>Affinity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EE0EAB3-7310-486B-2D79-AA462C1A1F62}"/>
              </a:ext>
            </a:extLst>
          </p:cNvPr>
          <p:cNvSpPr/>
          <p:nvPr/>
        </p:nvSpPr>
        <p:spPr>
          <a:xfrm>
            <a:off x="4013466" y="2038756"/>
            <a:ext cx="2260643" cy="40011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FAF82DD-15E9-F61A-F110-52170DE71F86}"/>
              </a:ext>
            </a:extLst>
          </p:cNvPr>
          <p:cNvSpPr/>
          <p:nvPr/>
        </p:nvSpPr>
        <p:spPr>
          <a:xfrm>
            <a:off x="4844537" y="2514068"/>
            <a:ext cx="2693565" cy="51603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F34E59F-7C43-EF58-1884-33983103FE2D}"/>
              </a:ext>
            </a:extLst>
          </p:cNvPr>
          <p:cNvSpPr/>
          <p:nvPr/>
        </p:nvSpPr>
        <p:spPr>
          <a:xfrm>
            <a:off x="6243745" y="1997276"/>
            <a:ext cx="2563549" cy="40011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A6E9FC-A060-07CE-289D-6B486E037098}"/>
              </a:ext>
            </a:extLst>
          </p:cNvPr>
          <p:cNvSpPr txBox="1"/>
          <p:nvPr/>
        </p:nvSpPr>
        <p:spPr>
          <a:xfrm>
            <a:off x="8807295" y="4382593"/>
            <a:ext cx="2201448" cy="2031325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wrap="squar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+ Name </a:t>
            </a:r>
          </a:p>
          <a:p>
            <a:r>
              <a:rPr lang="en-DE" dirty="0">
                <a:solidFill>
                  <a:schemeClr val="bg1"/>
                </a:solidFill>
              </a:rPr>
              <a:t>+ TaskFunction</a:t>
            </a:r>
          </a:p>
          <a:p>
            <a:r>
              <a:rPr lang="en-DE" dirty="0">
                <a:solidFill>
                  <a:schemeClr val="bg1"/>
                </a:solidFill>
              </a:rPr>
              <a:t>+ Stack size</a:t>
            </a:r>
          </a:p>
          <a:p>
            <a:r>
              <a:rPr lang="en-DE" dirty="0">
                <a:solidFill>
                  <a:schemeClr val="bg1"/>
                </a:solidFill>
              </a:rPr>
              <a:t>+ Parameter list</a:t>
            </a:r>
          </a:p>
          <a:p>
            <a:r>
              <a:rPr lang="en-DE" dirty="0">
                <a:solidFill>
                  <a:schemeClr val="bg1"/>
                </a:solidFill>
              </a:rPr>
              <a:t>+ Pointer to the task</a:t>
            </a:r>
          </a:p>
          <a:p>
            <a:r>
              <a:rPr lang="en-DE" dirty="0">
                <a:solidFill>
                  <a:schemeClr val="bg1"/>
                </a:solidFill>
              </a:rPr>
              <a:t>(Task Handel)</a:t>
            </a:r>
          </a:p>
          <a:p>
            <a:endParaRPr lang="en-DE" dirty="0">
              <a:solidFill>
                <a:schemeClr val="bg1"/>
              </a:solidFill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6B59AA90-4BB5-44FF-3D57-4CBC35325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783" y="4612221"/>
            <a:ext cx="7188200" cy="19812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8921A0CA-34D4-EF30-0A8B-07DCDB4184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1544" y="4637463"/>
            <a:ext cx="4533900" cy="1879600"/>
          </a:xfrm>
          <a:prstGeom prst="rect">
            <a:avLst/>
          </a:prstGeom>
        </p:spPr>
      </p:pic>
      <p:pic>
        <p:nvPicPr>
          <p:cNvPr id="4098" name="Picture 2" descr="How RTOS tasks transition between states | Selva Subramanian posted on the  topic | LinkedIn">
            <a:extLst>
              <a:ext uri="{FF2B5EF4-FFF2-40B4-BE49-F238E27FC236}">
                <a16:creationId xmlns:a16="http://schemas.microsoft.com/office/drawing/2014/main" id="{1D035E5B-CFAC-D2BB-9FF4-43CDB5F9B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88" y="2999078"/>
            <a:ext cx="4056036" cy="3767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2D399C-29D2-325E-2982-4AC53C3C6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38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4741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9" grpId="0" animBg="1"/>
      <p:bldP spid="41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06D1B-013D-BC28-A37A-544E1DDD7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ow RTOS tasks transition between states | Selva Subramanian posted on the  topic | LinkedIn">
            <a:extLst>
              <a:ext uri="{FF2B5EF4-FFF2-40B4-BE49-F238E27FC236}">
                <a16:creationId xmlns:a16="http://schemas.microsoft.com/office/drawing/2014/main" id="{A60266F8-7FC8-0AC3-A4AA-3CEC7002F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910" y="2514067"/>
            <a:ext cx="4423929" cy="410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5098DC-C49B-509C-3B9B-EF7E21F44112}"/>
              </a:ext>
            </a:extLst>
          </p:cNvPr>
          <p:cNvSpPr txBox="1"/>
          <p:nvPr/>
        </p:nvSpPr>
        <p:spPr>
          <a:xfrm>
            <a:off x="170121" y="180753"/>
            <a:ext cx="51901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solidFill>
                  <a:schemeClr val="bg1"/>
                </a:solidFill>
              </a:rPr>
              <a:t>Task States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DE2DD-9CB5-3B52-D630-D5D408D18CDF}"/>
              </a:ext>
            </a:extLst>
          </p:cNvPr>
          <p:cNvSpPr txBox="1"/>
          <p:nvPr/>
        </p:nvSpPr>
        <p:spPr>
          <a:xfrm>
            <a:off x="4316495" y="1494032"/>
            <a:ext cx="1486829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DE" sz="2400" b="1" dirty="0">
                <a:solidFill>
                  <a:schemeClr val="bg1"/>
                </a:solidFill>
              </a:rPr>
              <a:t> Core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5418B3-7192-B70C-FCD1-13F096994BB8}"/>
              </a:ext>
            </a:extLst>
          </p:cNvPr>
          <p:cNvSpPr txBox="1"/>
          <p:nvPr/>
        </p:nvSpPr>
        <p:spPr>
          <a:xfrm>
            <a:off x="6734385" y="1494031"/>
            <a:ext cx="1486829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DE" sz="2400" b="1" dirty="0">
                <a:solidFill>
                  <a:schemeClr val="bg1"/>
                </a:solidFill>
              </a:rPr>
              <a:t> Core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A786FE-311E-B8B1-2D6D-C1EF5071CD0A}"/>
              </a:ext>
            </a:extLst>
          </p:cNvPr>
          <p:cNvSpPr txBox="1"/>
          <p:nvPr/>
        </p:nvSpPr>
        <p:spPr>
          <a:xfrm>
            <a:off x="6212108" y="2008017"/>
            <a:ext cx="23863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000" b="1" dirty="0">
                <a:solidFill>
                  <a:srgbClr val="FFC000"/>
                </a:solidFill>
              </a:rPr>
              <a:t>Writing to SD</a:t>
            </a:r>
          </a:p>
        </p:txBody>
      </p:sp>
      <p:sp>
        <p:nvSpPr>
          <p:cNvPr id="16" name="Notched Right Arrow 15">
            <a:extLst>
              <a:ext uri="{FF2B5EF4-FFF2-40B4-BE49-F238E27FC236}">
                <a16:creationId xmlns:a16="http://schemas.microsoft.com/office/drawing/2014/main" id="{424996E3-5270-181D-4DED-55B2A824A69E}"/>
              </a:ext>
            </a:extLst>
          </p:cNvPr>
          <p:cNvSpPr/>
          <p:nvPr/>
        </p:nvSpPr>
        <p:spPr>
          <a:xfrm>
            <a:off x="5241073" y="602363"/>
            <a:ext cx="1884556" cy="501805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dirty="0"/>
              <a:t>Queue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F473997-FCA2-C0F7-5454-75297E972A6B}"/>
              </a:ext>
            </a:extLst>
          </p:cNvPr>
          <p:cNvCxnSpPr>
            <a:stCxn id="7" idx="0"/>
          </p:cNvCxnSpPr>
          <p:nvPr/>
        </p:nvCxnSpPr>
        <p:spPr>
          <a:xfrm flipV="1">
            <a:off x="5059910" y="1003610"/>
            <a:ext cx="405470" cy="4904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F11AFA9-0878-6842-B555-70AE556E4250}"/>
              </a:ext>
            </a:extLst>
          </p:cNvPr>
          <p:cNvCxnSpPr/>
          <p:nvPr/>
        </p:nvCxnSpPr>
        <p:spPr>
          <a:xfrm>
            <a:off x="6723875" y="1014761"/>
            <a:ext cx="312545" cy="3902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367629D-7F7F-E9C8-1659-46D95CD9B034}"/>
              </a:ext>
            </a:extLst>
          </p:cNvPr>
          <p:cNvSpPr txBox="1"/>
          <p:nvPr/>
        </p:nvSpPr>
        <p:spPr>
          <a:xfrm>
            <a:off x="4587411" y="1067110"/>
            <a:ext cx="1147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000" b="1" dirty="0">
                <a:solidFill>
                  <a:schemeClr val="bg1"/>
                </a:solidFill>
              </a:rPr>
              <a:t>Buffer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0E3488-07DA-4925-0A4F-A99A0298024D}"/>
              </a:ext>
            </a:extLst>
          </p:cNvPr>
          <p:cNvSpPr txBox="1"/>
          <p:nvPr/>
        </p:nvSpPr>
        <p:spPr>
          <a:xfrm>
            <a:off x="6363318" y="1014761"/>
            <a:ext cx="1147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000" b="1" dirty="0">
                <a:solidFill>
                  <a:schemeClr val="bg1"/>
                </a:solidFill>
              </a:rPr>
              <a:t>Buffer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3FA8C06-6472-B367-E02D-A5030D1B7F1F}"/>
              </a:ext>
            </a:extLst>
          </p:cNvPr>
          <p:cNvCxnSpPr>
            <a:cxnSpLocks/>
          </p:cNvCxnSpPr>
          <p:nvPr/>
        </p:nvCxnSpPr>
        <p:spPr>
          <a:xfrm flipH="1" flipV="1">
            <a:off x="3373008" y="1678599"/>
            <a:ext cx="651711" cy="518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2C48E28-2424-90D1-12D9-85186E87E197}"/>
              </a:ext>
            </a:extLst>
          </p:cNvPr>
          <p:cNvSpPr txBox="1"/>
          <p:nvPr/>
        </p:nvSpPr>
        <p:spPr>
          <a:xfrm>
            <a:off x="2189587" y="1248821"/>
            <a:ext cx="1434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High Prio (3)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1785103-274C-1D85-FEF2-E861F979A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6862" y="1292052"/>
            <a:ext cx="1549559" cy="155978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6CBC4D11-B225-CADD-531B-9BF3822A94F6}"/>
              </a:ext>
            </a:extLst>
          </p:cNvPr>
          <p:cNvSpPr txBox="1"/>
          <p:nvPr/>
        </p:nvSpPr>
        <p:spPr>
          <a:xfrm>
            <a:off x="5803324" y="1542691"/>
            <a:ext cx="911858" cy="36933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DE" dirty="0">
                <a:solidFill>
                  <a:schemeClr val="bg1"/>
                </a:solidFill>
              </a:rPr>
              <a:t>Affinity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E0A5461-63BA-DBF0-C945-CC4EA537ED4D}"/>
              </a:ext>
            </a:extLst>
          </p:cNvPr>
          <p:cNvGrpSpPr/>
          <p:nvPr/>
        </p:nvGrpSpPr>
        <p:grpSpPr>
          <a:xfrm>
            <a:off x="3887749" y="2038756"/>
            <a:ext cx="2386361" cy="402423"/>
            <a:chOff x="3887749" y="2038756"/>
            <a:chExt cx="2386361" cy="40242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BC008A2-8472-7B02-3229-BC663707AB13}"/>
                </a:ext>
              </a:extLst>
            </p:cNvPr>
            <p:cNvSpPr txBox="1"/>
            <p:nvPr/>
          </p:nvSpPr>
          <p:spPr>
            <a:xfrm>
              <a:off x="3887749" y="2041069"/>
              <a:ext cx="23863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DE" sz="2000" b="1" dirty="0">
                  <a:solidFill>
                    <a:srgbClr val="FFC000"/>
                  </a:solidFill>
                </a:rPr>
                <a:t>Read all Sensors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55AC21B-7CDB-5EEF-D437-8AF1E01D7D50}"/>
                </a:ext>
              </a:extLst>
            </p:cNvPr>
            <p:cNvSpPr/>
            <p:nvPr/>
          </p:nvSpPr>
          <p:spPr>
            <a:xfrm>
              <a:off x="4013466" y="2038756"/>
              <a:ext cx="2260643" cy="40011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E9ED44E-67A1-2E92-08A0-875D7451B423}"/>
              </a:ext>
            </a:extLst>
          </p:cNvPr>
          <p:cNvGrpSpPr/>
          <p:nvPr/>
        </p:nvGrpSpPr>
        <p:grpSpPr>
          <a:xfrm>
            <a:off x="4844537" y="2514068"/>
            <a:ext cx="2693565" cy="516036"/>
            <a:chOff x="4844537" y="2514068"/>
            <a:chExt cx="2693565" cy="51603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21826E7-936E-0F61-5771-59E5161EAF57}"/>
                </a:ext>
              </a:extLst>
            </p:cNvPr>
            <p:cNvSpPr txBox="1"/>
            <p:nvPr/>
          </p:nvSpPr>
          <p:spPr>
            <a:xfrm>
              <a:off x="4916293" y="2562523"/>
              <a:ext cx="24761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DE" sz="2000" b="1" dirty="0">
                  <a:solidFill>
                    <a:srgbClr val="FFC000"/>
                  </a:solidFill>
                </a:rPr>
                <a:t>Sending data to RF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6150F33-A4DB-34F9-2808-AC47EBE1968D}"/>
                </a:ext>
              </a:extLst>
            </p:cNvPr>
            <p:cNvSpPr/>
            <p:nvPr/>
          </p:nvSpPr>
          <p:spPr>
            <a:xfrm>
              <a:off x="4844537" y="2514068"/>
              <a:ext cx="2693565" cy="51603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9A6BB752-8D3D-C5A6-C055-834FFB2ACBDF}"/>
              </a:ext>
            </a:extLst>
          </p:cNvPr>
          <p:cNvSpPr/>
          <p:nvPr/>
        </p:nvSpPr>
        <p:spPr>
          <a:xfrm>
            <a:off x="6243745" y="1997276"/>
            <a:ext cx="2260643" cy="40011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2" name="Curved Connector 1">
            <a:extLst>
              <a:ext uri="{FF2B5EF4-FFF2-40B4-BE49-F238E27FC236}">
                <a16:creationId xmlns:a16="http://schemas.microsoft.com/office/drawing/2014/main" id="{E0D18063-0BE1-27A2-B815-55C5CBE631B5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50592" y="2071944"/>
            <a:ext cx="7446272" cy="4072824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56F5E-5F5C-830E-1181-D649E840E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39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7293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177 0.01157 L -0.17773 0.27129 " pathEditMode="relative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927 0.02292 L -0.23711 0.53194 " pathEditMode="relative" ptsTypes="AA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5 0.01157 L -0.3638 0.29282 " pathEditMode="relative" ptsTypes="AA">
                                      <p:cBhvr>
                                        <p:cTn id="3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15 -0.00625 L -0.26771 0.46088 " pathEditMode="relative" ptsTypes="AA">
                                      <p:cBhvr>
                                        <p:cTn id="4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304 0.02292 L -0.06263 0.37917 " pathEditMode="relative" ptsTypes="AA">
                                      <p:cBhvr>
                                        <p:cTn id="4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123 -0.00764 L -0.15377 0.31227 " pathEditMode="relative" ptsTypes="AA">
                                      <p:cBhvr>
                                        <p:cTn id="4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125 -0.00625 L -0.28568 0.58357 " pathEditMode="relative" ptsTypes="AA">
                                      <p:cBhvr>
                                        <p:cTn id="5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887B7-A92C-6BFD-877D-7F03AB54F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8034E64-DD38-C791-EBEE-0B48AA9A96CC}"/>
              </a:ext>
            </a:extLst>
          </p:cNvPr>
          <p:cNvSpPr txBox="1"/>
          <p:nvPr/>
        </p:nvSpPr>
        <p:spPr>
          <a:xfrm>
            <a:off x="170121" y="180753"/>
            <a:ext cx="463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solidFill>
                  <a:schemeClr val="bg1"/>
                </a:solidFill>
              </a:rPr>
              <a:t>Queues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8D66AE-634E-7E16-FB00-3CA10FDA1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32" y="2348101"/>
            <a:ext cx="6083300" cy="1562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A9530D-2830-EB3C-AAA5-9F2254ADB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137" y="4263259"/>
            <a:ext cx="5219700" cy="1333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86D481-123E-2FAD-9F7F-EF72964DDE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00" y="1101673"/>
            <a:ext cx="5613400" cy="9906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D78ACE-15AD-74C8-838F-C167918FB450}"/>
              </a:ext>
            </a:extLst>
          </p:cNvPr>
          <p:cNvCxnSpPr>
            <a:cxnSpLocks/>
          </p:cNvCxnSpPr>
          <p:nvPr/>
        </p:nvCxnSpPr>
        <p:spPr>
          <a:xfrm>
            <a:off x="1460938" y="1509421"/>
            <a:ext cx="2974428" cy="1149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E1FA3E2-B963-B3F6-FBC0-FD87A4368EA0}"/>
              </a:ext>
            </a:extLst>
          </p:cNvPr>
          <p:cNvCxnSpPr>
            <a:cxnSpLocks/>
          </p:cNvCxnSpPr>
          <p:nvPr/>
        </p:nvCxnSpPr>
        <p:spPr>
          <a:xfrm>
            <a:off x="1114097" y="1492469"/>
            <a:ext cx="3321269" cy="3027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4919EFED-DBC6-8E81-7917-2261147E9DA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6612" b="-13006"/>
          <a:stretch>
            <a:fillRect/>
          </a:stretch>
        </p:blipFill>
        <p:spPr>
          <a:xfrm>
            <a:off x="5998716" y="1949891"/>
            <a:ext cx="4926801" cy="5377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8B6E7D2-9665-602A-AA30-B9B0F439485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72058" y="3781126"/>
            <a:ext cx="5320069" cy="23392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9658016-C0BE-DB66-BE60-3277B6ACB61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32220"/>
          <a:stretch>
            <a:fillRect/>
          </a:stretch>
        </p:blipFill>
        <p:spPr>
          <a:xfrm>
            <a:off x="5652255" y="2581470"/>
            <a:ext cx="5619722" cy="921237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E262A247-BF46-84B9-0E59-295F580C6D0A}"/>
              </a:ext>
            </a:extLst>
          </p:cNvPr>
          <p:cNvSpPr/>
          <p:nvPr/>
        </p:nvSpPr>
        <p:spPr>
          <a:xfrm>
            <a:off x="6248837" y="4520163"/>
            <a:ext cx="4914026" cy="86113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F0B93B-FDD3-2046-5268-967A1C975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40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91939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F7A66-1407-6723-90A7-1AE2E0A73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FBA53E0-23CC-ADB0-D6E8-4F5DAC9DB19F}"/>
              </a:ext>
            </a:extLst>
          </p:cNvPr>
          <p:cNvSpPr txBox="1"/>
          <p:nvPr/>
        </p:nvSpPr>
        <p:spPr>
          <a:xfrm>
            <a:off x="170121" y="180753"/>
            <a:ext cx="463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solidFill>
                  <a:schemeClr val="bg1"/>
                </a:solidFill>
              </a:rPr>
              <a:t>Task Notifications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8D070A-A3C6-D73F-C648-449FEADA5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6862" y="1292052"/>
            <a:ext cx="1549559" cy="15597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90125C-206C-75A8-B9EA-D695FB106396}"/>
              </a:ext>
            </a:extLst>
          </p:cNvPr>
          <p:cNvSpPr txBox="1"/>
          <p:nvPr/>
        </p:nvSpPr>
        <p:spPr>
          <a:xfrm>
            <a:off x="9604839" y="2953406"/>
            <a:ext cx="2259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Interupt every 1 ms</a:t>
            </a:r>
          </a:p>
        </p:txBody>
      </p:sp>
      <p:cxnSp>
        <p:nvCxnSpPr>
          <p:cNvPr id="4" name="Curved Connector 3">
            <a:extLst>
              <a:ext uri="{FF2B5EF4-FFF2-40B4-BE49-F238E27FC236}">
                <a16:creationId xmlns:a16="http://schemas.microsoft.com/office/drawing/2014/main" id="{2DDCC3D6-7492-1B67-D6E1-49B89117896A}"/>
              </a:ext>
            </a:extLst>
          </p:cNvPr>
          <p:cNvCxnSpPr>
            <a:cxnSpLocks/>
            <a:endCxn id="6" idx="3"/>
          </p:cNvCxnSpPr>
          <p:nvPr/>
        </p:nvCxnSpPr>
        <p:spPr>
          <a:xfrm rot="10800000">
            <a:off x="5861744" y="1638850"/>
            <a:ext cx="4035120" cy="433097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CBE98AB-A8F7-E4AD-68FD-8442E1B14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27" y="2160172"/>
            <a:ext cx="7620000" cy="1955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F5B800-193B-3DE6-98D0-00746D5871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182" y="1292052"/>
            <a:ext cx="5677562" cy="6935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173BA8B-E6B7-29F5-588B-062E3C0278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525" y="4420002"/>
            <a:ext cx="7772400" cy="18856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9C37CED-77DF-6D80-415B-B11847B1CA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412" y="4786053"/>
            <a:ext cx="5575300" cy="72390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7DC902B5-3829-5B83-B16D-2C2938121A29}"/>
              </a:ext>
            </a:extLst>
          </p:cNvPr>
          <p:cNvSpPr/>
          <p:nvPr/>
        </p:nvSpPr>
        <p:spPr>
          <a:xfrm>
            <a:off x="533525" y="5565947"/>
            <a:ext cx="3418365" cy="50903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0DC7F-767E-61A1-38B0-B88D99A97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41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99296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8488F-915F-D0A4-4746-8F02830A6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FBE0416-C904-4521-C8AE-15A9E62EFC2D}"/>
              </a:ext>
            </a:extLst>
          </p:cNvPr>
          <p:cNvSpPr txBox="1"/>
          <p:nvPr/>
        </p:nvSpPr>
        <p:spPr>
          <a:xfrm>
            <a:off x="170121" y="180753"/>
            <a:ext cx="463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solidFill>
                  <a:schemeClr val="bg1"/>
                </a:solidFill>
              </a:rPr>
              <a:t>Mutex and Semphores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AE8AC4F-A0D4-33C3-B2C6-4006FF739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32049"/>
            <a:ext cx="9144000" cy="1078996"/>
          </a:xfrm>
        </p:spPr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Quick Game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925402-6121-08D0-8B66-D9A968BAA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42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912600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1C1B2-F185-6EC1-6C8B-D97E8B118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8F23FC5-B26F-CD4B-C7EE-89F4332F91D9}"/>
              </a:ext>
            </a:extLst>
          </p:cNvPr>
          <p:cNvSpPr txBox="1"/>
          <p:nvPr/>
        </p:nvSpPr>
        <p:spPr>
          <a:xfrm>
            <a:off x="170121" y="180753"/>
            <a:ext cx="463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solidFill>
                  <a:schemeClr val="bg1"/>
                </a:solidFill>
              </a:rPr>
              <a:t>Mutex and Semphores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F5102D-D198-9D76-84D5-652C84EC9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18944"/>
            <a:ext cx="9144000" cy="1701829"/>
          </a:xfrm>
        </p:spPr>
        <p:txBody>
          <a:bodyPr>
            <a:normAutofit fontScale="90000"/>
          </a:bodyPr>
          <a:lstStyle/>
          <a:p>
            <a:r>
              <a:rPr lang="de-DE" dirty="0">
                <a:solidFill>
                  <a:schemeClr val="bg1"/>
                </a:solidFill>
              </a:rPr>
              <a:t>Mutex </a:t>
            </a:r>
            <a:r>
              <a:rPr lang="de-DE" dirty="0" err="1">
                <a:solidFill>
                  <a:schemeClr val="bg1"/>
                </a:solidFill>
              </a:rPr>
              <a:t>force</a:t>
            </a:r>
            <a:r>
              <a:rPr lang="de-DE" dirty="0">
                <a:solidFill>
                  <a:schemeClr val="bg1"/>
                </a:solidFill>
              </a:rPr>
              <a:t> Ownership, </a:t>
            </a:r>
            <a:r>
              <a:rPr lang="de-DE" dirty="0" err="1">
                <a:solidFill>
                  <a:schemeClr val="bg1"/>
                </a:solidFill>
              </a:rPr>
              <a:t>Semaphores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are</a:t>
            </a:r>
            <a:r>
              <a:rPr lang="de-DE" dirty="0">
                <a:solidFill>
                  <a:schemeClr val="bg1"/>
                </a:solidFill>
              </a:rPr>
              <a:t> not</a:t>
            </a:r>
            <a:endParaRPr lang="en-DE" dirty="0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74ADBD-4F38-88CF-C17B-8EF946AB1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43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0042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AB5E2-5653-9554-78E5-732848F1B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9F985E7-6BDA-A75E-BB2D-EC9781B3FCB7}"/>
              </a:ext>
            </a:extLst>
          </p:cNvPr>
          <p:cNvSpPr txBox="1"/>
          <p:nvPr/>
        </p:nvSpPr>
        <p:spPr>
          <a:xfrm>
            <a:off x="170121" y="180753"/>
            <a:ext cx="463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solidFill>
                  <a:schemeClr val="bg1"/>
                </a:solidFill>
              </a:rPr>
              <a:t>Counting Semapore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A33916-60F3-9B9A-7C72-AA46DDF28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11555"/>
            <a:ext cx="7772400" cy="6846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FB12E0-483C-4A80-7875-B35D80EA1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0" y="2321614"/>
            <a:ext cx="5194300" cy="495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B8D844-F437-DBB8-C4C1-B4ADA563A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" y="3035300"/>
            <a:ext cx="5638800" cy="7874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D800B7B-BEB0-D271-76FC-AAE66D437D8A}"/>
              </a:ext>
            </a:extLst>
          </p:cNvPr>
          <p:cNvCxnSpPr>
            <a:endCxn id="4" idx="0"/>
          </p:cNvCxnSpPr>
          <p:nvPr/>
        </p:nvCxnSpPr>
        <p:spPr>
          <a:xfrm>
            <a:off x="1621536" y="1292352"/>
            <a:ext cx="1667764" cy="10292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3799C4C-D300-1948-6BF1-29806ED9338A}"/>
              </a:ext>
            </a:extLst>
          </p:cNvPr>
          <p:cNvCxnSpPr>
            <a:cxnSpLocks/>
          </p:cNvCxnSpPr>
          <p:nvPr/>
        </p:nvCxnSpPr>
        <p:spPr>
          <a:xfrm>
            <a:off x="1078992" y="1292352"/>
            <a:ext cx="2432558" cy="1877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BDE9DE9C-FFA5-0DBF-536E-992D97245329}"/>
              </a:ext>
            </a:extLst>
          </p:cNvPr>
          <p:cNvSpPr/>
          <p:nvPr/>
        </p:nvSpPr>
        <p:spPr>
          <a:xfrm>
            <a:off x="2743200" y="3413252"/>
            <a:ext cx="2584704" cy="41885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20FABA-0142-3F94-1CCF-3FAB2A01C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44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904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972BD-5860-FD5A-0760-59E20F783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B02A5C7-152A-C8AC-168A-83CC70C12BF5}"/>
              </a:ext>
            </a:extLst>
          </p:cNvPr>
          <p:cNvSpPr txBox="1"/>
          <p:nvPr/>
        </p:nvSpPr>
        <p:spPr>
          <a:xfrm>
            <a:off x="170121" y="180753"/>
            <a:ext cx="463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solidFill>
                  <a:schemeClr val="bg1"/>
                </a:solidFill>
              </a:rPr>
              <a:t>Counting Semapore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C85C49-4662-51C3-3F2A-C7C1CAA2F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171" y="1121664"/>
            <a:ext cx="6023708" cy="55534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4904B8-AD12-03F6-E679-4F2AA25EE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21" y="918093"/>
            <a:ext cx="5764344" cy="482074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639BCBAC-7E23-74F9-76CF-E7E61E8B07CA}"/>
              </a:ext>
            </a:extLst>
          </p:cNvPr>
          <p:cNvSpPr/>
          <p:nvPr/>
        </p:nvSpPr>
        <p:spPr>
          <a:xfrm>
            <a:off x="838771" y="2517438"/>
            <a:ext cx="3418365" cy="33633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D9939EE-B5E0-219C-9380-2A9965486348}"/>
              </a:ext>
            </a:extLst>
          </p:cNvPr>
          <p:cNvSpPr/>
          <p:nvPr/>
        </p:nvSpPr>
        <p:spPr>
          <a:xfrm>
            <a:off x="6221539" y="5821680"/>
            <a:ext cx="3418365" cy="33633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FEE8BE-1F65-7390-6AAB-FA8C68188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45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44042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F9CD6-0278-4430-BB32-522948EAD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17926B6-C9B9-62BF-E38C-3E36D2A7E63A}"/>
              </a:ext>
            </a:extLst>
          </p:cNvPr>
          <p:cNvSpPr txBox="1"/>
          <p:nvPr/>
        </p:nvSpPr>
        <p:spPr>
          <a:xfrm>
            <a:off x="170121" y="180753"/>
            <a:ext cx="463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solidFill>
                  <a:schemeClr val="bg1"/>
                </a:solidFill>
              </a:rPr>
              <a:t>Task Function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FB82B5-1F81-9C49-A7A7-0D019A2E28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157" y="765528"/>
            <a:ext cx="5788131" cy="47274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834C71-6280-35EE-801D-D0DAA2599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819" y="1840614"/>
            <a:ext cx="7772400" cy="4790535"/>
          </a:xfrm>
          <a:prstGeom prst="rect">
            <a:avLst/>
          </a:prstGeom>
        </p:spPr>
      </p:pic>
      <p:pic>
        <p:nvPicPr>
          <p:cNvPr id="5" name="Graphic 4" descr="Snooze with solid fill">
            <a:extLst>
              <a:ext uri="{FF2B5EF4-FFF2-40B4-BE49-F238E27FC236}">
                <a16:creationId xmlns:a16="http://schemas.microsoft.com/office/drawing/2014/main" id="{501BA700-98E0-20C8-FD34-DBBA1AEE2E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6038" y="0"/>
            <a:ext cx="1600995" cy="160099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13E7475-0A64-8219-65A3-6A5BFC40DEF7}"/>
              </a:ext>
            </a:extLst>
          </p:cNvPr>
          <p:cNvSpPr/>
          <p:nvPr/>
        </p:nvSpPr>
        <p:spPr>
          <a:xfrm>
            <a:off x="34157" y="1944414"/>
            <a:ext cx="3418365" cy="33633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123DC8D-CC58-0EFB-7631-D3262EE3B57B}"/>
              </a:ext>
            </a:extLst>
          </p:cNvPr>
          <p:cNvSpPr/>
          <p:nvPr/>
        </p:nvSpPr>
        <p:spPr>
          <a:xfrm>
            <a:off x="4943422" y="3260834"/>
            <a:ext cx="6208054" cy="33633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7DF308-988D-20BF-109D-492B5B4349E1}"/>
              </a:ext>
            </a:extLst>
          </p:cNvPr>
          <p:cNvCxnSpPr>
            <a:stCxn id="6" idx="6"/>
          </p:cNvCxnSpPr>
          <p:nvPr/>
        </p:nvCxnSpPr>
        <p:spPr>
          <a:xfrm flipV="1">
            <a:off x="3452522" y="1072055"/>
            <a:ext cx="3743516" cy="1040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618283-B8F0-258E-0439-B13230907D31}"/>
              </a:ext>
            </a:extLst>
          </p:cNvPr>
          <p:cNvCxnSpPr>
            <a:cxnSpLocks/>
          </p:cNvCxnSpPr>
          <p:nvPr/>
        </p:nvCxnSpPr>
        <p:spPr>
          <a:xfrm flipV="1">
            <a:off x="6222124" y="1224455"/>
            <a:ext cx="1126314" cy="2036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15A4F48-A02C-7ED4-44E8-D3BB0FF9EF76}"/>
              </a:ext>
            </a:extLst>
          </p:cNvPr>
          <p:cNvSpPr/>
          <p:nvPr/>
        </p:nvSpPr>
        <p:spPr>
          <a:xfrm>
            <a:off x="134005" y="1718443"/>
            <a:ext cx="843457" cy="33633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7303337-9078-91FD-6A46-55665110BCFB}"/>
              </a:ext>
            </a:extLst>
          </p:cNvPr>
          <p:cNvSpPr/>
          <p:nvPr/>
        </p:nvSpPr>
        <p:spPr>
          <a:xfrm>
            <a:off x="4806778" y="2784589"/>
            <a:ext cx="1289222" cy="33633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FFB7BD-49A0-7141-1E02-EFC945127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46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2165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6" grpId="0" animBg="1"/>
      <p:bldP spid="1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43C7E-9680-B33A-864E-875EA09ED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6B9EBE2-893C-1586-29DF-BF680928DD74}"/>
              </a:ext>
            </a:extLst>
          </p:cNvPr>
          <p:cNvSpPr txBox="1"/>
          <p:nvPr/>
        </p:nvSpPr>
        <p:spPr>
          <a:xfrm>
            <a:off x="170121" y="180753"/>
            <a:ext cx="463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solidFill>
                  <a:schemeClr val="bg1"/>
                </a:solidFill>
              </a:rPr>
              <a:t>Task Function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275A26-7368-E94B-786F-FCE0A88A3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233" y="935469"/>
            <a:ext cx="5943600" cy="284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9037BD-0031-1D4B-BB46-A028E0B1E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719" y="1982870"/>
            <a:ext cx="7772400" cy="4790535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3849C9FF-E7A8-D42B-A3AA-015F44DE3537}"/>
              </a:ext>
            </a:extLst>
          </p:cNvPr>
          <p:cNvSpPr/>
          <p:nvPr/>
        </p:nvSpPr>
        <p:spPr>
          <a:xfrm>
            <a:off x="5407718" y="3694176"/>
            <a:ext cx="6089337" cy="202387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63277EB-5751-25A4-71E1-FE6235968348}"/>
              </a:ext>
            </a:extLst>
          </p:cNvPr>
          <p:cNvSpPr/>
          <p:nvPr/>
        </p:nvSpPr>
        <p:spPr>
          <a:xfrm>
            <a:off x="585216" y="2799829"/>
            <a:ext cx="2121408" cy="41885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8935D2B-FE26-0AF6-5E6B-7FD84B62053C}"/>
              </a:ext>
            </a:extLst>
          </p:cNvPr>
          <p:cNvSpPr/>
          <p:nvPr/>
        </p:nvSpPr>
        <p:spPr>
          <a:xfrm>
            <a:off x="481584" y="1843236"/>
            <a:ext cx="5187696" cy="79558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2666A-A0C6-5B21-3D1D-7ACDEFDD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47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2476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4" grpId="0" animBg="1"/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FFA-AE98-621B-DA04-01F84C1A8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13C4828-F35B-88AD-6300-ED26F0BB9EAC}"/>
              </a:ext>
            </a:extLst>
          </p:cNvPr>
          <p:cNvSpPr txBox="1"/>
          <p:nvPr/>
        </p:nvSpPr>
        <p:spPr>
          <a:xfrm>
            <a:off x="170121" y="180753"/>
            <a:ext cx="463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solidFill>
                  <a:schemeClr val="bg1"/>
                </a:solidFill>
              </a:rPr>
              <a:t>Task Creation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FFB863-C357-7CD7-7FAA-7DF447BFC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449" y="3429000"/>
            <a:ext cx="7772400" cy="8132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3AD03E-6685-60F0-CA71-32026845B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774" y="1168258"/>
            <a:ext cx="4305300" cy="16891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A38EEF-EECF-2933-43D0-FDDA52638FD4}"/>
              </a:ext>
            </a:extLst>
          </p:cNvPr>
          <p:cNvCxnSpPr>
            <a:cxnSpLocks/>
          </p:cNvCxnSpPr>
          <p:nvPr/>
        </p:nvCxnSpPr>
        <p:spPr>
          <a:xfrm>
            <a:off x="3389376" y="2121408"/>
            <a:ext cx="5437632" cy="15971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778CC3-3477-C3A5-4BB8-C441DAC031B0}"/>
              </a:ext>
            </a:extLst>
          </p:cNvPr>
          <p:cNvCxnSpPr>
            <a:cxnSpLocks/>
          </p:cNvCxnSpPr>
          <p:nvPr/>
        </p:nvCxnSpPr>
        <p:spPr>
          <a:xfrm>
            <a:off x="3535436" y="2342937"/>
            <a:ext cx="4413748" cy="16577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0A1FE19-2816-4AD1-52FE-D4E26EA4C90D}"/>
              </a:ext>
            </a:extLst>
          </p:cNvPr>
          <p:cNvSpPr txBox="1"/>
          <p:nvPr/>
        </p:nvSpPr>
        <p:spPr>
          <a:xfrm>
            <a:off x="5164074" y="4387619"/>
            <a:ext cx="2232417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DE" dirty="0"/>
              <a:t>Main() or Setup()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3639541-3028-E812-9660-9B29CD2DF3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1054100"/>
            <a:ext cx="7772400" cy="47498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07B43F-7671-674D-1426-71E9F865E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48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5079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41FDC-A877-6939-723A-D6CAC1D98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9664E3D-15AC-42AB-6489-03BE1B02CE9D}"/>
              </a:ext>
            </a:extLst>
          </p:cNvPr>
          <p:cNvSpPr txBox="1"/>
          <p:nvPr/>
        </p:nvSpPr>
        <p:spPr>
          <a:xfrm>
            <a:off x="170121" y="180753"/>
            <a:ext cx="463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solidFill>
                  <a:schemeClr val="bg1"/>
                </a:solidFill>
              </a:rPr>
              <a:t>Scheduler Start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7251A0A-798A-D54D-9D26-129873019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56" y="968756"/>
            <a:ext cx="6656832" cy="465175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E618653E-3D51-EAEE-1A64-63106E878CCD}"/>
              </a:ext>
            </a:extLst>
          </p:cNvPr>
          <p:cNvSpPr/>
          <p:nvPr/>
        </p:nvSpPr>
        <p:spPr>
          <a:xfrm>
            <a:off x="524256" y="4543285"/>
            <a:ext cx="2121408" cy="41885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B9F2E3-8895-45B2-1F92-EF3A67B81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765528"/>
            <a:ext cx="7772400" cy="384492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36FC225-6208-CE49-238C-6C638FE6346B}"/>
              </a:ext>
            </a:extLst>
          </p:cNvPr>
          <p:cNvSpPr/>
          <p:nvPr/>
        </p:nvSpPr>
        <p:spPr>
          <a:xfrm>
            <a:off x="3877057" y="3429001"/>
            <a:ext cx="3018086" cy="118144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11E52B3-0356-675B-2201-CB30BE96C357}"/>
              </a:ext>
            </a:extLst>
          </p:cNvPr>
          <p:cNvSpPr/>
          <p:nvPr/>
        </p:nvSpPr>
        <p:spPr>
          <a:xfrm>
            <a:off x="524256" y="4962144"/>
            <a:ext cx="5340096" cy="41885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A9F75C-6A30-9AC6-DD18-3B7AFF044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49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52284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BCFFF-46C7-F34F-6ED0-17BE77EF0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6F54BBB-5B32-BE61-128A-E8464512EB61}"/>
              </a:ext>
            </a:extLst>
          </p:cNvPr>
          <p:cNvSpPr txBox="1"/>
          <p:nvPr/>
        </p:nvSpPr>
        <p:spPr>
          <a:xfrm>
            <a:off x="666833" y="2770257"/>
            <a:ext cx="6162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800" b="1" dirty="0">
                <a:solidFill>
                  <a:schemeClr val="bg1"/>
                </a:solidFill>
              </a:rPr>
              <a:t>Thanks!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CA21FD-7077-A71E-065D-99078792E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DB5A4-C567-C746-A827-6CFD268A5ED9}" type="slidenum">
              <a:rPr lang="en-DE" smtClean="0"/>
              <a:t>50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33623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60527</TotalTime>
  <Words>2555</Words>
  <Application>Microsoft Macintosh PowerPoint</Application>
  <PresentationFormat>Widescreen</PresentationFormat>
  <Paragraphs>423</Paragraphs>
  <Slides>50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-webkit-standard</vt:lpstr>
      <vt:lpstr>Aptos</vt:lpstr>
      <vt:lpstr>Aptos Display</vt:lpstr>
      <vt:lpstr>Arial</vt:lpstr>
      <vt:lpstr>Cambria Math</vt:lpstr>
      <vt:lpstr>Times New Roman</vt:lpstr>
      <vt:lpstr>Office Theme</vt:lpstr>
      <vt:lpstr>Phase One Evaluation of Different IMUs</vt:lpstr>
      <vt:lpstr>PowerPoint Presentation</vt:lpstr>
      <vt:lpstr>1. Exploring Different Sensors </vt:lpstr>
      <vt:lpstr>Exploring Different Sensors  Noise Characterstics</vt:lpstr>
      <vt:lpstr>To Design the best Filtering Algotisthm for an IMU, we need to understand the Static Behaviour of the sensor (its noise Charactersitcs/ Parameters).    The Lower the Noise Coeffecients the better the Sensor is  The Method being used for Extracting &amp; comparing the Noise Coeffecients is The Overlapping Allan Varriance</vt:lpstr>
      <vt:lpstr>2. Allan Varriance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IMUs Errors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SW Architecture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Findings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FreeRTOS</vt:lpstr>
      <vt:lpstr>Just Scheduler + some extras</vt:lpstr>
      <vt:lpstr>PowerPoint Presentation</vt:lpstr>
      <vt:lpstr>PowerPoint Presentation</vt:lpstr>
      <vt:lpstr>PowerPoint Presentation</vt:lpstr>
      <vt:lpstr>PowerPoint Presentation</vt:lpstr>
      <vt:lpstr>Quick Game</vt:lpstr>
      <vt:lpstr>Mutex force Ownership, Semaphores are not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Abdelrahman Sherif Mohamed Elsayed Hewala</dc:creator>
  <cp:lastModifiedBy>Abdelrahman Sherif Mohamed Elsayed Hewala</cp:lastModifiedBy>
  <cp:revision>12</cp:revision>
  <dcterms:created xsi:type="dcterms:W3CDTF">2026-01-27T21:10:44Z</dcterms:created>
  <dcterms:modified xsi:type="dcterms:W3CDTF">2026-06-22T09:52:01Z</dcterms:modified>
</cp:coreProperties>
</file>